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members of the evaluation committee. Today, we present the Second Review (CIA II) for our project: Real-Time Indian Sign Language Translation using AC-HWGATE. In this review, we demonstrate the concrete technical implementation, our expanded 3,081-sequence signer-independent dataset, seven controlled ablation experiments on an NVIDIA RTX 3050 GPU, and our live end-to-end webcam pipeline that achieves 83.44% Top-1 and 93.17% Top-3 test accuracy with 0.82 ms inference latency.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we address is twofold: first, traditional sign recognition systems rely on expensive external sensors; second, software-only approaches often treat signs as static images. When deployed to a live webcam, standard models hallucinate false predictions for arbitrary hand movements. Our objective is a pure webcam-based, low-latency temporal architecture that captures continuous hand-body coordination while rejecting out-of-vocabulary gestures.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scope encompasses the complete pipeline from webcam video acquisition to synthesized speech. We target a 40-word core conversational vocabulary, using a strict 32-frame temporal window and a multi-signal unknown rejection mechanism so the system only translates when a genuine sign is completed.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analyzing existing literature, we observed a trade-off: 3D CNNs achieve good recognition but run at only 12 FPS, while LSTMs run fast but achieve under 30% accuracy because they flatten skeletal joints into a 1D vector. AC-HWGATE bridges this gap by combining adaptive spatial graph attention with windowed temporal transformers in under 1 million parameters.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outlines the complete dataflow satisfying Module Description. From raw 30 FPS webcam video, landmarks are extracted, normalized, and engineered into a 6-channel kinematic tensor. This tensor flows through AC-HWGATE, which emits class probabilities and a 128-dimensional embedding. Our multi-signal rejection module evaluates four distinct safety gates before allowing the sign to enter grammar reconstruction and audio speech.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directly fulfills the 10-mark Module Description rubric. We have decoupled the system into six distinct modules with mathematically defined inputs, processes, and outputs. Notice especially Module 3, which computes real velocity and acceleration rather than duplicating frames, and Module 5, which prevents accidental triggers through four distinct mathematical checks.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details why AC-HWGATE outperforms standard architectures. It combines graph convolutions with transformers. The adaptive graph layer learns which body parts interact during a sign, while the windowed attention captures subtle finger flexions in local 8-frame windows before the global transformer models the overall sign trajectory. Total parameter count is just 972K, allowing sub-millisecond execution on GPU.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the 10-mark Implementation rubric, Slide 8 demonstrates that our system is fully operational. We built an asynchronous FastAPI backend and a responsive React frontend. Crucially, the model is exported to ONNX and runs via ONNX Runtime with CUDA acceleration, achieving exact numerical parity with PyTorch to within 2.8 millionths of a value. Every module listed here corresponds directly to clean, tested files in our repository.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presents our dataset engineering. To overcome the data limitations of earlier iterations, we integrated the full ISL500 landmark corpus with the Vidit031 dataset, assembling 3,081 sequences. Crucially, we enforce a strict signer-independent split: signers User013 through User015 appear ONLY in the test split. There is zero video leakage, zero signer leakage, and zero hash overlap, validated by our automated audit script.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presents our controlled ablation study on the RTX 3050. Rather than tuning randomly, we ran seven disciplined experiments from A to G. Notice that Experiment C, introducing class-weighted smooth inverse square root loss, raised Macro F1 from 63% to 69% by preventing common classes from dominating rare signs. Experiment G combined these validated enhancements, achieving our peak validation accuracy of 89.21%.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the Evaluation rubric, Slide 11 gives our measured, unvarnished test results. On 483 completely untouched test sequences from signers never seen during training, AC-HWGATE achieves 83.44% Top-1 accuracy and 93.17% Top-3 accuracy. Model inference takes just 0.82 milliseconds—over 1,200 FPS—which means the neural network accounts for less than 3% of our 34ms total end-to-end frame budget.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compares AC-HWGATE against classical baselines. Standard CNNs, LSTMs, and GRUs fail to exceed 26% accuracy because flattening keypoints destroys spatial relationships. ST-GCN achieves 26.8% because its graph is rigidly fixed to physical bones. AC-HWGATE achieves 83.44%—a 57 percentage point improvement—because our adaptive attention dynamically connects the hands together during two-handed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tackles the single most critical failure mode in live sign recognition: false triggers. We implemented a cascaded four-gate filter. If hands are absent, if movement is idle, if prediction margin is narrow, or if the latent embedding is far from our 40 class prototypes, the sign is suppressed. On our evaluated idle and jitter test set, false acceptance is 0%, ensuring stable live demonstrations.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14, we discuss what worked and candidly address our limitations. Our +19.9% gain in test accuracy and sub-millisecond latency demonstrate that the core architecture is sound. However, our current vocabulary is 40 words, and extreme lighting variations still challenge MediaPipe. Our future roadmap focuses on continuous sentence recognition via CTC loss and mobile INT8 quantization.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built a functional, mathematically defensible, and thoroughly tested Indian Sign Language translator. Every metric reported today is verified by reproducible code and audit logs. The system is currently active on our laptop, and we are now ready to demonstrate the live webcam translation to the evaluation panel.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4114800"/>
          </a:xfrm>
          <a:prstGeom prst="rect">
            <a:avLst/>
          </a:prstGeom>
          <a:noFill/>
        </p:spPr>
        <p:txBody>
          <a:bodyPr wrap="square">
            <a:spAutoFit/>
          </a:bodyPr>
          <a:lstStyle/>
          <a:p>
            <a:pPr>
              <a:defRPr sz="1300" b="1">
                <a:solidFill>
                  <a:srgbClr val="38BDF8"/>
                </a:solidFill>
                <a:latin typeface="Segoe UI"/>
              </a:defRPr>
            </a:pPr>
            <a:r>
              <a:t>SECOND REVIEW (CIA II) EVALUATION</a:t>
            </a:r>
          </a:p>
          <a:p>
            <a:pPr>
              <a:spcBef>
                <a:spcPts val="1200"/>
              </a:spcBef>
              <a:defRPr sz="3600" b="1">
                <a:solidFill>
                  <a:srgbClr val="FFFFFF"/>
                </a:solidFill>
                <a:latin typeface="Segoe UI"/>
              </a:defRPr>
            </a:pPr>
            <a:r>
              <a:t>Real-Time Indian Sign Language Translator</a:t>
            </a:r>
            <a:br/>
            <a:r>
              <a:t>Using AC-HWGATE</a:t>
            </a:r>
          </a:p>
          <a:p>
            <a:pPr>
              <a:spcBef>
                <a:spcPts val="800"/>
              </a:spcBef>
              <a:defRPr sz="1600" b="1">
                <a:solidFill>
                  <a:srgbClr val="2DD4BF"/>
                </a:solidFill>
                <a:latin typeface="Segoe UI"/>
              </a:defRPr>
            </a:pPr>
            <a:r>
              <a:t>Adaptive Context-Aware Hierarchical Windowed Graph Attention Transformer Encoder</a:t>
            </a:r>
          </a:p>
          <a:p>
            <a:pPr>
              <a:spcBef>
                <a:spcPts val="2400"/>
              </a:spcBef>
              <a:defRPr sz="1200">
                <a:solidFill>
                  <a:srgbClr val="94A3B8"/>
                </a:solidFill>
                <a:latin typeface="Segoe UI"/>
              </a:defRPr>
            </a:pPr>
            <a:r>
              <a:t>Webcam-Based Skeletal Graph Tracking • 4-Stage Unknown Gesture Rejection • Natural English Translation • TTS</a:t>
            </a:r>
            <a:br/>
            <a:r>
              <a:t>Department of Computer Science and Engineering | Academic Year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CONTEXT &amp; INDUSTRY NEEDS</a:t>
            </a:r>
          </a:p>
          <a:p>
            <a:pPr>
              <a:spcBef>
                <a:spcPts val="400"/>
              </a:spcBef>
              <a:defRPr sz="2200" b="1">
                <a:solidFill>
                  <a:srgbClr val="0F172A"/>
                </a:solidFill>
                <a:latin typeface="Segoe UI"/>
              </a:defRPr>
            </a:pPr>
            <a:r>
              <a:t>Problem Statement &amp; Motivation</a:t>
            </a:r>
          </a:p>
        </p:txBody>
      </p:sp>
      <p:sp>
        <p:nvSpPr>
          <p:cNvPr id="3" name="Rounded Rectangle 2"/>
          <p:cNvSpPr/>
          <p:nvPr/>
        </p:nvSpPr>
        <p:spPr>
          <a:xfrm>
            <a:off x="731520" y="1645920"/>
            <a:ext cx="10728655"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spcAft>
                <a:spcPts val="1200"/>
              </a:spcAft>
            </a:pPr>
            <a:r>
              <a:rPr b="1" sz="1300">
                <a:solidFill>
                  <a:srgbClr val="0F172A"/>
                </a:solidFill>
                <a:latin typeface="Segoe UI"/>
              </a:rPr>
              <a:t>• Severe Communication Divide: </a:t>
            </a:r>
            <a:r>
              <a:rPr sz="1300">
                <a:solidFill>
                  <a:srgbClr val="475569"/>
                </a:solidFill>
                <a:latin typeface="Segoe UI"/>
              </a:rPr>
              <a:t>Over 7 million deaf and hard-of-hearing individuals in India rely on Indian Sign Language (ISL), yet fewer than 1,000 certified interpreters exist nationwide, creating immense isolation.</a:t>
            </a:r>
          </a:p>
          <a:p>
            <a:pPr>
              <a:spcAft>
                <a:spcPts val="1200"/>
              </a:spcAft>
            </a:pPr>
            <a:r>
              <a:rPr b="1" sz="1300">
                <a:solidFill>
                  <a:srgbClr val="0F172A"/>
                </a:solidFill>
                <a:latin typeface="Segoe UI"/>
              </a:rPr>
              <a:t>• Hardware &amp; Cost Barrier: </a:t>
            </a:r>
            <a:r>
              <a:rPr sz="1300">
                <a:solidFill>
                  <a:srgbClr val="475569"/>
                </a:solidFill>
                <a:latin typeface="Segoe UI"/>
              </a:rPr>
              <a:t>Commercial solutions require expensive sensory data gloves or multi-camera depth sensors (Kinect/RealSense), preventing practical deployment on consumer laptops.</a:t>
            </a:r>
          </a:p>
          <a:p>
            <a:pPr>
              <a:spcAft>
                <a:spcPts val="1200"/>
              </a:spcAft>
            </a:pPr>
            <a:r>
              <a:rPr b="1" sz="1300">
                <a:solidFill>
                  <a:srgbClr val="0F172A"/>
                </a:solidFill>
                <a:latin typeface="Segoe UI"/>
              </a:rPr>
              <a:t>• The Static Snapshot (T=1) Flaw: </a:t>
            </a:r>
            <a:r>
              <a:rPr sz="1300">
                <a:solidFill>
                  <a:srgbClr val="475569"/>
                </a:solidFill>
                <a:latin typeface="Segoe UI"/>
              </a:rPr>
              <a:t>Academic models frequently treat signs as single 2D photos, completely failing to recognize dynamic signs that differ purely by trajectory (such as 'come' vs. 'go', or 'drink' vs. 'eat').</a:t>
            </a:r>
          </a:p>
          <a:p>
            <a:pPr>
              <a:spcAft>
                <a:spcPts val="1200"/>
              </a:spcAft>
            </a:pPr>
            <a:r>
              <a:rPr b="1" sz="1300">
                <a:solidFill>
                  <a:srgbClr val="0F172A"/>
                </a:solidFill>
                <a:latin typeface="Segoe UI"/>
              </a:rPr>
              <a:t>• The 'Hallucination' Trap: </a:t>
            </a:r>
            <a:r>
              <a:rPr sz="1300">
                <a:solidFill>
                  <a:srgbClr val="475569"/>
                </a:solidFill>
                <a:latin typeface="Segoe UI"/>
              </a:rPr>
              <a:t>Standard classifiers force every random hand movement, fidget, or idle posture into a sign class (e.g. predicting 'hello' at 92% confidence when adjusting one's glasses).</a:t>
            </a:r>
          </a:p>
          <a:p>
            <a:pPr>
              <a:spcAft>
                <a:spcPts val="1200"/>
              </a:spcAft>
            </a:pPr>
            <a:r>
              <a:rPr b="1" sz="1300">
                <a:solidFill>
                  <a:srgbClr val="0F172A"/>
                </a:solidFill>
                <a:latin typeface="Segoe UI"/>
              </a:rPr>
              <a:t>• Strict Edge Latency Limits: </a:t>
            </a:r>
            <a:r>
              <a:rPr sz="1300">
                <a:solidFill>
                  <a:srgbClr val="475569"/>
                </a:solidFill>
                <a:latin typeface="Segoe UI"/>
              </a:rPr>
              <a:t>Heavy 3D-CNNs (&gt;30M params) run at 12 FPS and cannot deliver the sub-10ms responsiveness required for fluid real-time communication on 4GB edge GPUs.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SCOPE DEFINITION</a:t>
            </a:r>
          </a:p>
          <a:p>
            <a:pPr>
              <a:spcBef>
                <a:spcPts val="400"/>
              </a:spcBef>
              <a:defRPr sz="2200" b="1">
                <a:solidFill>
                  <a:srgbClr val="0F172A"/>
                </a:solidFill>
                <a:latin typeface="Segoe UI"/>
              </a:defRPr>
            </a:pPr>
            <a:r>
              <a:t>Project Objective &amp; Technical Scope</a:t>
            </a:r>
          </a:p>
        </p:txBody>
      </p:sp>
      <p:sp>
        <p:nvSpPr>
          <p:cNvPr id="3" name="Rounded Rectangle 2"/>
          <p:cNvSpPr/>
          <p:nvPr/>
        </p:nvSpPr>
        <p:spPr>
          <a:xfrm>
            <a:off x="731520" y="1645920"/>
            <a:ext cx="52120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000"/>
              </a:spcAft>
              <a:defRPr b="1" sz="1600">
                <a:solidFill>
                  <a:srgbClr val="1E3A8A"/>
                </a:solidFill>
              </a:defRPr>
            </a:pPr>
            <a:r>
              <a:t>Core Objectives</a:t>
            </a:r>
          </a:p>
          <a:p>
            <a:pPr>
              <a:spcAft>
                <a:spcPts val="1000"/>
              </a:spcAft>
              <a:defRPr sz="1200">
                <a:solidFill>
                  <a:srgbClr val="475569"/>
                </a:solidFill>
              </a:defRPr>
            </a:pPr>
            <a:r>
              <a:t>✔ Pure Webcam Pipeline: Real-time recognition using consumer RGB webcams without sensor gloves or depth cameras.</a:t>
            </a:r>
          </a:p>
          <a:p>
            <a:pPr>
              <a:spcAft>
                <a:spcPts val="1000"/>
              </a:spcAft>
              <a:defRPr sz="1200">
                <a:solidFill>
                  <a:srgbClr val="475569"/>
                </a:solidFill>
              </a:defRPr>
            </a:pPr>
            <a:r>
              <a:t>✔ Dynamic 32-Frame Buffer: Rolling temporal window capturing continuous kinematics (Position, Velocity, Acceleration).</a:t>
            </a:r>
          </a:p>
          <a:p>
            <a:pPr>
              <a:spcAft>
                <a:spcPts val="1000"/>
              </a:spcAft>
              <a:defRPr sz="1200">
                <a:solidFill>
                  <a:srgbClr val="475569"/>
                </a:solidFill>
              </a:defRPr>
            </a:pPr>
            <a:r>
              <a:t>✔ Signer-Independent Generalization: Generalizes to unseen signers via structured topological graph modeling.</a:t>
            </a:r>
          </a:p>
          <a:p>
            <a:pPr>
              <a:spcAft>
                <a:spcPts val="1000"/>
              </a:spcAft>
              <a:defRPr sz="1200">
                <a:solidFill>
                  <a:srgbClr val="475569"/>
                </a:solidFill>
              </a:defRPr>
            </a:pPr>
            <a:r>
              <a:t>✔ Zero False Triggers: 4-stage cascaded unknown gesture rejection mechanism for idle stability.</a:t>
            </a:r>
          </a:p>
        </p:txBody>
      </p:sp>
      <p:sp>
        <p:nvSpPr>
          <p:cNvPr id="4" name="Rounded Rectangle 3"/>
          <p:cNvSpPr/>
          <p:nvPr/>
        </p:nvSpPr>
        <p:spPr>
          <a:xfrm>
            <a:off x="6217920" y="1645920"/>
            <a:ext cx="52120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000"/>
              </a:spcAft>
              <a:defRPr b="1" sz="1600">
                <a:solidFill>
                  <a:srgbClr val="0D9488"/>
                </a:solidFill>
              </a:defRPr>
            </a:pPr>
            <a:r>
              <a:t>Operational Scope &amp; Targets</a:t>
            </a:r>
          </a:p>
          <a:p>
            <a:pPr>
              <a:spcAft>
                <a:spcPts val="1000"/>
              </a:spcAft>
              <a:defRPr sz="1200">
                <a:solidFill>
                  <a:srgbClr val="475569"/>
                </a:solidFill>
              </a:defRPr>
            </a:pPr>
            <a:r>
              <a:t>➤ Vocabulary: 40 canonical conversational words covering greetings, emergency, daily needs, family, and actions.</a:t>
            </a:r>
          </a:p>
          <a:p>
            <a:pPr>
              <a:spcAft>
                <a:spcPts val="1000"/>
              </a:spcAft>
              <a:defRPr sz="1200">
                <a:solidFill>
                  <a:srgbClr val="475569"/>
                </a:solidFill>
              </a:defRPr>
            </a:pPr>
            <a:r>
              <a:t>➤ Topology: 133 WholeBody landmarks (33 pose + 42 hands + 58 face) yielding 798 features/frame.</a:t>
            </a:r>
          </a:p>
          <a:p>
            <a:pPr>
              <a:spcAft>
                <a:spcPts val="1000"/>
              </a:spcAft>
              <a:defRPr sz="1200">
                <a:solidFill>
                  <a:srgbClr val="475569"/>
                </a:solidFill>
              </a:defRPr>
            </a:pPr>
            <a:r>
              <a:t>➤ Translation &amp; Audio: Deterministic English grammar restructuring + low-latency offline TTS synthesis.</a:t>
            </a:r>
          </a:p>
          <a:p>
            <a:pPr>
              <a:spcAft>
                <a:spcPts val="1000"/>
              </a:spcAft>
              <a:defRPr sz="1200">
                <a:solidFill>
                  <a:srgbClr val="475569"/>
                </a:solidFill>
              </a:defRPr>
            </a:pPr>
            <a:r>
              <a:t>➤ Hardware Target: NVIDIA RTX 3050 Laptop GPU (4 GB VRAM) achieving sub-millisecond model latency (&lt;1.0 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RELATED WORK</a:t>
            </a:r>
          </a:p>
          <a:p>
            <a:pPr>
              <a:spcBef>
                <a:spcPts val="400"/>
              </a:spcBef>
              <a:defRPr sz="2200" b="1">
                <a:solidFill>
                  <a:srgbClr val="0F172A"/>
                </a:solidFill>
                <a:latin typeface="Segoe UI"/>
              </a:defRPr>
            </a:pPr>
            <a:r>
              <a:t>Literature Survey &amp; Research Gap</a:t>
            </a:r>
          </a:p>
        </p:txBody>
      </p:sp>
      <p:graphicFrame>
        <p:nvGraphicFramePr>
          <p:cNvPr id="3" name="Table 2"/>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011680"/>
                <a:gridCol w="2286000"/>
                <a:gridCol w="2926080"/>
                <a:gridCol w="3474720"/>
              </a:tblGrid>
              <a:tr h="731520">
                <a:tc>
                  <a:txBody>
                    <a:bodyPr/>
                    <a:lstStyle/>
                    <a:p>
                      <a:pPr>
                        <a:defRPr b="1" sz="1100">
                          <a:solidFill>
                            <a:srgbClr val="FFFFFF"/>
                          </a:solidFill>
                        </a:defRPr>
                      </a:pPr>
                      <a:r>
                        <a:t>Author / Study</a:t>
                      </a:r>
                    </a:p>
                  </a:txBody>
                  <a:tcPr>
                    <a:solidFill>
                      <a:srgbClr val="1E3A8A"/>
                    </a:solidFill>
                  </a:tcPr>
                </a:tc>
                <a:tc>
                  <a:txBody>
                    <a:bodyPr/>
                    <a:lstStyle/>
                    <a:p>
                      <a:pPr>
                        <a:defRPr b="1" sz="1100">
                          <a:solidFill>
                            <a:srgbClr val="FFFFFF"/>
                          </a:solidFill>
                        </a:defRPr>
                      </a:pPr>
                      <a:r>
                        <a:t>Architecture</a:t>
                      </a:r>
                    </a:p>
                  </a:txBody>
                  <a:tcPr>
                    <a:solidFill>
                      <a:srgbClr val="1E3A8A"/>
                    </a:solidFill>
                  </a:tcPr>
                </a:tc>
                <a:tc>
                  <a:txBody>
                    <a:bodyPr/>
                    <a:lstStyle/>
                    <a:p>
                      <a:pPr>
                        <a:defRPr b="1" sz="1100">
                          <a:solidFill>
                            <a:srgbClr val="FFFFFF"/>
                          </a:solidFill>
                        </a:defRPr>
                      </a:pPr>
                      <a:r>
                        <a:t>Strength</a:t>
                      </a:r>
                    </a:p>
                  </a:txBody>
                  <a:tcPr>
                    <a:solidFill>
                      <a:srgbClr val="1E3A8A"/>
                    </a:solidFill>
                  </a:tcPr>
                </a:tc>
                <a:tc>
                  <a:txBody>
                    <a:bodyPr/>
                    <a:lstStyle/>
                    <a:p>
                      <a:pPr>
                        <a:defRPr b="1" sz="1100">
                          <a:solidFill>
                            <a:srgbClr val="FFFFFF"/>
                          </a:solidFill>
                        </a:defRPr>
                      </a:pPr>
                      <a:r>
                        <a:t>Critical Limitation &amp; Gap</a:t>
                      </a:r>
                    </a:p>
                  </a:txBody>
                  <a:tcPr>
                    <a:solidFill>
                      <a:srgbClr val="1E3A8A"/>
                    </a:solidFill>
                  </a:tcPr>
                </a:tc>
              </a:tr>
              <a:tr h="731520">
                <a:tc>
                  <a:txBody>
                    <a:bodyPr/>
                    <a:lstStyle/>
                    <a:p>
                      <a:pPr>
                        <a:defRPr sz="1000" b="1">
                          <a:solidFill>
                            <a:srgbClr val="475569"/>
                          </a:solidFill>
                        </a:defRPr>
                      </a:pPr>
                      <a:r>
                        <a:t>Mittal et al. (2020)</a:t>
                      </a:r>
                    </a:p>
                  </a:txBody>
                  <a:tcPr>
                    <a:solidFill>
                      <a:srgbClr val="F8FAFC"/>
                    </a:solidFill>
                  </a:tcPr>
                </a:tc>
                <a:tc>
                  <a:txBody>
                    <a:bodyPr/>
                    <a:lstStyle/>
                    <a:p>
                      <a:pPr>
                        <a:defRPr sz="1000">
                          <a:solidFill>
                            <a:srgbClr val="475569"/>
                          </a:solidFill>
                        </a:defRPr>
                      </a:pPr>
                      <a:r>
                        <a:t>3D-CNN (ResNet3D)</a:t>
                      </a:r>
                    </a:p>
                  </a:txBody>
                  <a:tcPr>
                    <a:solidFill>
                      <a:srgbClr val="F8FAFC"/>
                    </a:solidFill>
                  </a:tcPr>
                </a:tc>
                <a:tc>
                  <a:txBody>
                    <a:bodyPr/>
                    <a:lstStyle/>
                    <a:p>
                      <a:pPr>
                        <a:defRPr sz="1000">
                          <a:solidFill>
                            <a:srgbClr val="475569"/>
                          </a:solidFill>
                        </a:defRPr>
                      </a:pPr>
                      <a:r>
                        <a:t>End-to-end spatial-temporal RGB representation</a:t>
                      </a:r>
                    </a:p>
                  </a:txBody>
                  <a:tcPr>
                    <a:solidFill>
                      <a:srgbClr val="F8FAFC"/>
                    </a:solidFill>
                  </a:tcPr>
                </a:tc>
                <a:tc>
                  <a:txBody>
                    <a:bodyPr/>
                    <a:lstStyle/>
                    <a:p>
                      <a:pPr>
                        <a:defRPr sz="1000">
                          <a:solidFill>
                            <a:srgbClr val="475569"/>
                          </a:solidFill>
                        </a:defRPr>
                      </a:pPr>
                      <a:r>
                        <a:t>Heavy &gt;30M params; 80ms latency; fails real-time on edge GPUs</a:t>
                      </a:r>
                    </a:p>
                  </a:txBody>
                  <a:tcPr>
                    <a:solidFill>
                      <a:srgbClr val="F8FAFC"/>
                    </a:solidFill>
                  </a:tcPr>
                </a:tc>
              </a:tr>
              <a:tr h="731520">
                <a:tc>
                  <a:txBody>
                    <a:bodyPr/>
                    <a:lstStyle/>
                    <a:p>
                      <a:pPr>
                        <a:defRPr sz="1000" b="1">
                          <a:solidFill>
                            <a:srgbClr val="475569"/>
                          </a:solidFill>
                        </a:defRPr>
                      </a:pPr>
                      <a:r>
                        <a:t>Kumar et al. (2022)</a:t>
                      </a:r>
                    </a:p>
                  </a:txBody>
                  <a:tcPr>
                    <a:solidFill>
                      <a:srgbClr val="FFFFFF"/>
                    </a:solidFill>
                  </a:tcPr>
                </a:tc>
                <a:tc>
                  <a:txBody>
                    <a:bodyPr/>
                    <a:lstStyle/>
                    <a:p>
                      <a:pPr>
                        <a:defRPr sz="1000">
                          <a:solidFill>
                            <a:srgbClr val="475569"/>
                          </a:solidFill>
                        </a:defRPr>
                      </a:pPr>
                      <a:r>
                        <a:t>MediaPipe + Bi-LSTM</a:t>
                      </a:r>
                    </a:p>
                  </a:txBody>
                  <a:tcPr>
                    <a:solidFill>
                      <a:srgbClr val="FFFFFF"/>
                    </a:solidFill>
                  </a:tcPr>
                </a:tc>
                <a:tc>
                  <a:txBody>
                    <a:bodyPr/>
                    <a:lstStyle/>
                    <a:p>
                      <a:pPr>
                        <a:defRPr sz="1000">
                          <a:solidFill>
                            <a:srgbClr val="475569"/>
                          </a:solidFill>
                        </a:defRPr>
                      </a:pPr>
                      <a:r>
                        <a:t>Lightweight skeletal keypoint tracking</a:t>
                      </a:r>
                    </a:p>
                  </a:txBody>
                  <a:tcPr>
                    <a:solidFill>
                      <a:srgbClr val="FFFFFF"/>
                    </a:solidFill>
                  </a:tcPr>
                </a:tc>
                <a:tc>
                  <a:txBody>
                    <a:bodyPr/>
                    <a:lstStyle/>
                    <a:p>
                      <a:pPr>
                        <a:defRPr sz="1000">
                          <a:solidFill>
                            <a:srgbClr val="475569"/>
                          </a:solidFill>
                        </a:defRPr>
                      </a:pPr>
                      <a:r>
                        <a:t>Flattens 133 joints into 1D; destroys bone topology; 24.37% test acc</a:t>
                      </a:r>
                    </a:p>
                  </a:txBody>
                  <a:tcPr>
                    <a:solidFill>
                      <a:srgbClr val="FFFFFF"/>
                    </a:solidFill>
                  </a:tcPr>
                </a:tc>
              </a:tr>
              <a:tr h="731520">
                <a:tc>
                  <a:txBody>
                    <a:bodyPr/>
                    <a:lstStyle/>
                    <a:p>
                      <a:pPr>
                        <a:defRPr sz="1000" b="1">
                          <a:solidFill>
                            <a:srgbClr val="475569"/>
                          </a:solidFill>
                        </a:defRPr>
                      </a:pPr>
                      <a:r>
                        <a:t>Yan et al. (2018)</a:t>
                      </a:r>
                    </a:p>
                  </a:txBody>
                  <a:tcPr>
                    <a:solidFill>
                      <a:srgbClr val="F8FAFC"/>
                    </a:solidFill>
                  </a:tcPr>
                </a:tc>
                <a:tc>
                  <a:txBody>
                    <a:bodyPr/>
                    <a:lstStyle/>
                    <a:p>
                      <a:pPr>
                        <a:defRPr sz="1000">
                          <a:solidFill>
                            <a:srgbClr val="475569"/>
                          </a:solidFill>
                        </a:defRPr>
                      </a:pPr>
                      <a:r>
                        <a:t>ST-GCN (Spatial Graph)</a:t>
                      </a:r>
                    </a:p>
                  </a:txBody>
                  <a:tcPr>
                    <a:solidFill>
                      <a:srgbClr val="F8FAFC"/>
                    </a:solidFill>
                  </a:tcPr>
                </a:tc>
                <a:tc>
                  <a:txBody>
                    <a:bodyPr/>
                    <a:lstStyle/>
                    <a:p>
                      <a:pPr>
                        <a:defRPr sz="1000">
                          <a:solidFill>
                            <a:srgbClr val="475569"/>
                          </a:solidFill>
                        </a:defRPr>
                      </a:pPr>
                      <a:r>
                        <a:t>Models physical anatomical bone connectivity</a:t>
                      </a:r>
                    </a:p>
                  </a:txBody>
                  <a:tcPr>
                    <a:solidFill>
                      <a:srgbClr val="F8FAFC"/>
                    </a:solidFill>
                  </a:tcPr>
                </a:tc>
                <a:tc>
                  <a:txBody>
                    <a:bodyPr/>
                    <a:lstStyle/>
                    <a:p>
                      <a:pPr>
                        <a:defRPr sz="1000">
                          <a:solidFill>
                            <a:srgbClr val="475569"/>
                          </a:solidFill>
                        </a:defRPr>
                      </a:pPr>
                      <a:r>
                        <a:t>Rigid graph; cannot link hands in 2-handed signs; 26.88% test acc</a:t>
                      </a:r>
                    </a:p>
                  </a:txBody>
                  <a:tcPr>
                    <a:solidFill>
                      <a:srgbClr val="F8FAFC"/>
                    </a:solidFill>
                  </a:tcPr>
                </a:tc>
              </a:tr>
              <a:tr h="731520">
                <a:tc>
                  <a:txBody>
                    <a:bodyPr/>
                    <a:lstStyle/>
                    <a:p>
                      <a:pPr>
                        <a:defRPr sz="1000" b="1">
                          <a:solidFill>
                            <a:srgbClr val="475569"/>
                          </a:solidFill>
                        </a:defRPr>
                      </a:pPr>
                      <a:r>
                        <a:t>CWA-HWGATE</a:t>
                      </a:r>
                    </a:p>
                  </a:txBody>
                  <a:tcPr>
                    <a:solidFill>
                      <a:srgbClr val="FFFFFF"/>
                    </a:solidFill>
                  </a:tcPr>
                </a:tc>
                <a:tc>
                  <a:txBody>
                    <a:bodyPr/>
                    <a:lstStyle/>
                    <a:p>
                      <a:pPr>
                        <a:defRPr sz="1000">
                          <a:solidFill>
                            <a:srgbClr val="475569"/>
                          </a:solidFill>
                        </a:defRPr>
                      </a:pPr>
                      <a:r>
                        <a:t>Hand-Windowed Attention</a:t>
                      </a:r>
                    </a:p>
                  </a:txBody>
                  <a:tcPr>
                    <a:solidFill>
                      <a:srgbClr val="FFFFFF"/>
                    </a:solidFill>
                  </a:tcPr>
                </a:tc>
                <a:tc>
                  <a:txBody>
                    <a:bodyPr/>
                    <a:lstStyle/>
                    <a:p>
                      <a:pPr>
                        <a:defRPr sz="1000">
                          <a:solidFill>
                            <a:srgbClr val="475569"/>
                          </a:solidFill>
                        </a:defRPr>
                      </a:pPr>
                      <a:r>
                        <a:t>Fast sub-ms execution</a:t>
                      </a:r>
                    </a:p>
                  </a:txBody>
                  <a:tcPr>
                    <a:solidFill>
                      <a:srgbClr val="FFFFFF"/>
                    </a:solidFill>
                  </a:tcPr>
                </a:tc>
                <a:tc>
                  <a:txBody>
                    <a:bodyPr/>
                    <a:lstStyle/>
                    <a:p>
                      <a:pPr>
                        <a:defRPr sz="1000">
                          <a:solidFill>
                            <a:srgbClr val="475569"/>
                          </a:solidFill>
                        </a:defRPr>
                      </a:pPr>
                      <a:r>
                        <a:t>Lacks body-part hierarchical context; 63.55% test acc on unseen signers</a:t>
                      </a:r>
                    </a:p>
                  </a:txBody>
                  <a:tcPr>
                    <a:solidFill>
                      <a:srgbClr val="FFFFFF"/>
                    </a:solidFill>
                  </a:tcPr>
                </a:tc>
              </a:tr>
              <a:tr h="731520">
                <a:tc>
                  <a:txBody>
                    <a:bodyPr/>
                    <a:lstStyle/>
                    <a:p>
                      <a:pPr>
                        <a:defRPr sz="1000" b="1">
                          <a:solidFill>
                            <a:srgbClr val="1E3A8A"/>
                          </a:solidFill>
                        </a:defRPr>
                      </a:pPr>
                      <a:r>
                        <a:t>AC-HWGATE (Ours)</a:t>
                      </a:r>
                    </a:p>
                  </a:txBody>
                  <a:tcPr>
                    <a:solidFill>
                      <a:srgbClr val="EEF2FF"/>
                    </a:solidFill>
                  </a:tcPr>
                </a:tc>
                <a:tc>
                  <a:txBody>
                    <a:bodyPr/>
                    <a:lstStyle/>
                    <a:p>
                      <a:pPr>
                        <a:defRPr sz="1000" b="1">
                          <a:solidFill>
                            <a:srgbClr val="1E3A8A"/>
                          </a:solidFill>
                        </a:defRPr>
                      </a:pPr>
                      <a:r>
                        <a:t>Adaptive Graph + Windowed Tr.</a:t>
                      </a:r>
                    </a:p>
                  </a:txBody>
                  <a:tcPr>
                    <a:solidFill>
                      <a:srgbClr val="EEF2FF"/>
                    </a:solidFill>
                  </a:tcPr>
                </a:tc>
                <a:tc>
                  <a:txBody>
                    <a:bodyPr/>
                    <a:lstStyle/>
                    <a:p>
                      <a:pPr>
                        <a:defRPr sz="1000" b="1">
                          <a:solidFill>
                            <a:srgbClr val="1E3A8A"/>
                          </a:solidFill>
                        </a:defRPr>
                      </a:pPr>
                      <a:r>
                        <a:t>Learns dynamic cross-hand edges; sub-ms</a:t>
                      </a:r>
                    </a:p>
                  </a:txBody>
                  <a:tcPr>
                    <a:solidFill>
                      <a:srgbClr val="EEF2FF"/>
                    </a:solidFill>
                  </a:tcPr>
                </a:tc>
                <a:tc>
                  <a:txBody>
                    <a:bodyPr/>
                    <a:lstStyle/>
                    <a:p>
                      <a:pPr>
                        <a:defRPr sz="1000" b="1">
                          <a:solidFill>
                            <a:srgbClr val="1E3A8A"/>
                          </a:solidFill>
                        </a:defRPr>
                      </a:pPr>
                      <a:r>
                        <a:t>Proposed SOTA: 83.44% Top-1, 93.17% Top-3, 0.82ms latency (972K params)</a:t>
                      </a:r>
                    </a:p>
                  </a:txBody>
                  <a:tcPr>
                    <a:solidFill>
                      <a:srgbClr val="EEF2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DATAFLOW &amp; PIPELINE</a:t>
            </a:r>
          </a:p>
          <a:p>
            <a:pPr>
              <a:spcBef>
                <a:spcPts val="400"/>
              </a:spcBef>
              <a:defRPr sz="2200" b="1">
                <a:solidFill>
                  <a:srgbClr val="0F172A"/>
                </a:solidFill>
                <a:latin typeface="Segoe UI"/>
              </a:defRPr>
            </a:pPr>
            <a:r>
              <a:t>End-to-End System Architecture</a:t>
            </a:r>
          </a:p>
        </p:txBody>
      </p:sp>
      <p:sp>
        <p:nvSpPr>
          <p:cNvPr id="3" name="Rounded Rectangle 2"/>
          <p:cNvSpPr/>
          <p:nvPr/>
        </p:nvSpPr>
        <p:spPr>
          <a:xfrm>
            <a:off x="731520" y="1828800"/>
            <a:ext cx="1645920" cy="4114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74320"/>
          <a:lstStyle/>
          <a:p>
            <a:pPr algn="ctr">
              <a:defRPr b="1" sz="1100">
                <a:solidFill>
                  <a:srgbClr val="2563EB"/>
                </a:solidFill>
                <a:latin typeface="Segoe UI"/>
              </a:defRPr>
            </a:pPr>
            <a:r>
              <a:t>MODULE 1</a:t>
            </a:r>
          </a:p>
          <a:p>
            <a:pPr algn="ctr">
              <a:spcBef>
                <a:spcPts val="800"/>
              </a:spcBef>
              <a:spcAft>
                <a:spcPts val="1200"/>
              </a:spcAft>
              <a:defRPr b="1" sz="1300">
                <a:solidFill>
                  <a:srgbClr val="0F172A"/>
                </a:solidFill>
                <a:latin typeface="Segoe UI"/>
              </a:defRPr>
            </a:pPr>
            <a:r>
              <a:t>Video Acquisition</a:t>
            </a:r>
          </a:p>
          <a:p>
            <a:pPr algn="ctr">
              <a:defRPr sz="1100">
                <a:solidFill>
                  <a:srgbClr val="475569"/>
                </a:solidFill>
                <a:latin typeface="Segoe UI"/>
              </a:defRPr>
            </a:pPr>
            <a:r>
              <a:t>Webcam 30 FPS</a:t>
            </a:r>
            <a:br/>
            <a:r>
              <a:t>640x480 RGB</a:t>
            </a:r>
            <a:br/>
            <a:r>
              <a:t>OpenCV / WebRTC</a:t>
            </a:r>
          </a:p>
        </p:txBody>
      </p:sp>
      <p:sp>
        <p:nvSpPr>
          <p:cNvPr id="4" name="Rounded Rectangle 3"/>
          <p:cNvSpPr/>
          <p:nvPr/>
        </p:nvSpPr>
        <p:spPr>
          <a:xfrm>
            <a:off x="2542032" y="1828800"/>
            <a:ext cx="1645920" cy="4114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74320"/>
          <a:lstStyle/>
          <a:p>
            <a:pPr algn="ctr">
              <a:defRPr b="1" sz="1100">
                <a:solidFill>
                  <a:srgbClr val="2563EB"/>
                </a:solidFill>
                <a:latin typeface="Segoe UI"/>
              </a:defRPr>
            </a:pPr>
            <a:r>
              <a:t>MODULE 2</a:t>
            </a:r>
          </a:p>
          <a:p>
            <a:pPr algn="ctr">
              <a:spcBef>
                <a:spcPts val="800"/>
              </a:spcBef>
              <a:spcAft>
                <a:spcPts val="1200"/>
              </a:spcAft>
              <a:defRPr b="1" sz="1300">
                <a:solidFill>
                  <a:srgbClr val="0F172A"/>
                </a:solidFill>
                <a:latin typeface="Segoe UI"/>
              </a:defRPr>
            </a:pPr>
            <a:r>
              <a:t>Landmark Extract</a:t>
            </a:r>
          </a:p>
          <a:p>
            <a:pPr algn="ctr">
              <a:defRPr sz="1100">
                <a:solidFill>
                  <a:srgbClr val="475569"/>
                </a:solidFill>
                <a:latin typeface="Segoe UI"/>
              </a:defRPr>
            </a:pPr>
            <a:r>
              <a:t>MediaPipe 133 pts</a:t>
            </a:r>
            <a:br/>
            <a:r>
              <a:t>Pose (33) + Hands (42)</a:t>
            </a:r>
            <a:br/>
            <a:r>
              <a:t>Face Contours (58)</a:t>
            </a:r>
          </a:p>
        </p:txBody>
      </p:sp>
      <p:sp>
        <p:nvSpPr>
          <p:cNvPr id="5" name="Rounded Rectangle 4"/>
          <p:cNvSpPr/>
          <p:nvPr/>
        </p:nvSpPr>
        <p:spPr>
          <a:xfrm>
            <a:off x="4352544" y="1828800"/>
            <a:ext cx="1645920" cy="4114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74320"/>
          <a:lstStyle/>
          <a:p>
            <a:pPr algn="ctr">
              <a:defRPr b="1" sz="1100">
                <a:solidFill>
                  <a:srgbClr val="2563EB"/>
                </a:solidFill>
                <a:latin typeface="Segoe UI"/>
              </a:defRPr>
            </a:pPr>
            <a:r>
              <a:t>MODULE 3</a:t>
            </a:r>
          </a:p>
          <a:p>
            <a:pPr algn="ctr">
              <a:spcBef>
                <a:spcPts val="800"/>
              </a:spcBef>
              <a:spcAft>
                <a:spcPts val="1200"/>
              </a:spcAft>
              <a:defRPr b="1" sz="1300">
                <a:solidFill>
                  <a:srgbClr val="0F172A"/>
                </a:solidFill>
                <a:latin typeface="Segoe UI"/>
              </a:defRPr>
            </a:pPr>
            <a:r>
              <a:t>Kinematic Tensor</a:t>
            </a:r>
          </a:p>
          <a:p>
            <a:pPr algn="ctr">
              <a:defRPr sz="1100">
                <a:solidFill>
                  <a:srgbClr val="475569"/>
                </a:solidFill>
                <a:latin typeface="Segoe UI"/>
              </a:defRPr>
            </a:pPr>
            <a:r>
              <a:t>Part-centric norm</a:t>
            </a:r>
            <a:br/>
            <a:r>
              <a:t>Pos + Vel + Accel</a:t>
            </a:r>
            <a:br/>
            <a:r>
              <a:t>[B, 32, 133, 6] (798-D)</a:t>
            </a:r>
          </a:p>
        </p:txBody>
      </p:sp>
      <p:sp>
        <p:nvSpPr>
          <p:cNvPr id="6" name="Rounded Rectangle 5"/>
          <p:cNvSpPr/>
          <p:nvPr/>
        </p:nvSpPr>
        <p:spPr>
          <a:xfrm>
            <a:off x="6163056" y="1828800"/>
            <a:ext cx="1645920" cy="4114800"/>
          </a:xfrm>
          <a:prstGeom prst="roundRect">
            <a:avLst/>
          </a:prstGeom>
          <a:solidFill>
            <a:srgbClr val="1E3A8A"/>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74320"/>
          <a:lstStyle/>
          <a:p>
            <a:pPr algn="ctr">
              <a:defRPr b="1" sz="1100">
                <a:solidFill>
                  <a:srgbClr val="38BDF8"/>
                </a:solidFill>
                <a:latin typeface="Segoe UI"/>
              </a:defRPr>
            </a:pPr>
            <a:r>
              <a:t>MODULE 4</a:t>
            </a:r>
          </a:p>
          <a:p>
            <a:pPr algn="ctr">
              <a:spcBef>
                <a:spcPts val="800"/>
              </a:spcBef>
              <a:spcAft>
                <a:spcPts val="1200"/>
              </a:spcAft>
              <a:defRPr b="1" sz="1300">
                <a:solidFill>
                  <a:srgbClr val="FFFFFF"/>
                </a:solidFill>
                <a:latin typeface="Segoe UI"/>
              </a:defRPr>
            </a:pPr>
            <a:r>
              <a:t>AC-HWGATE</a:t>
            </a:r>
          </a:p>
          <a:p>
            <a:pPr algn="ctr">
              <a:defRPr sz="1100">
                <a:solidFill>
                  <a:srgbClr val="E2E8F0"/>
                </a:solidFill>
                <a:latin typeface="Segoe UI"/>
              </a:defRPr>
            </a:pPr>
            <a:r>
              <a:t>Adaptive Graph Attn</a:t>
            </a:r>
            <a:br/>
            <a:r>
              <a:t>Hierarchical Parts</a:t>
            </a:r>
            <a:br/>
            <a:r>
              <a:t>Windowed Transformer</a:t>
            </a:r>
          </a:p>
        </p:txBody>
      </p:sp>
      <p:sp>
        <p:nvSpPr>
          <p:cNvPr id="7" name="Rounded Rectangle 6"/>
          <p:cNvSpPr/>
          <p:nvPr/>
        </p:nvSpPr>
        <p:spPr>
          <a:xfrm>
            <a:off x="7973568" y="1828800"/>
            <a:ext cx="1645920" cy="4114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74320"/>
          <a:lstStyle/>
          <a:p>
            <a:pPr algn="ctr">
              <a:defRPr b="1" sz="1100">
                <a:solidFill>
                  <a:srgbClr val="2563EB"/>
                </a:solidFill>
                <a:latin typeface="Segoe UI"/>
              </a:defRPr>
            </a:pPr>
            <a:r>
              <a:t>MODULE 5</a:t>
            </a:r>
          </a:p>
          <a:p>
            <a:pPr algn="ctr">
              <a:spcBef>
                <a:spcPts val="800"/>
              </a:spcBef>
              <a:spcAft>
                <a:spcPts val="1200"/>
              </a:spcAft>
              <a:defRPr b="1" sz="1300">
                <a:solidFill>
                  <a:srgbClr val="0F172A"/>
                </a:solidFill>
                <a:latin typeface="Segoe UI"/>
              </a:defRPr>
            </a:pPr>
            <a:r>
              <a:t>Unknown Reject</a:t>
            </a:r>
          </a:p>
          <a:p>
            <a:pPr algn="ctr">
              <a:defRPr sz="1100">
                <a:solidFill>
                  <a:srgbClr val="475569"/>
                </a:solidFill>
                <a:latin typeface="Segoe UI"/>
              </a:defRPr>
            </a:pPr>
            <a:r>
              <a:t>4 Safety Gates</a:t>
            </a:r>
            <a:br/>
            <a:r>
              <a:t>Energy + Margin</a:t>
            </a:r>
            <a:br/>
            <a:r>
              <a:t>Prototype Cosine</a:t>
            </a:r>
          </a:p>
        </p:txBody>
      </p:sp>
      <p:sp>
        <p:nvSpPr>
          <p:cNvPr id="8" name="Rounded Rectangle 7"/>
          <p:cNvSpPr/>
          <p:nvPr/>
        </p:nvSpPr>
        <p:spPr>
          <a:xfrm>
            <a:off x="9784080" y="1828800"/>
            <a:ext cx="1645920" cy="41148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274320"/>
          <a:lstStyle/>
          <a:p>
            <a:pPr algn="ctr">
              <a:defRPr b="1" sz="1100">
                <a:solidFill>
                  <a:srgbClr val="2563EB"/>
                </a:solidFill>
                <a:latin typeface="Segoe UI"/>
              </a:defRPr>
            </a:pPr>
            <a:r>
              <a:t>MODULE 6</a:t>
            </a:r>
          </a:p>
          <a:p>
            <a:pPr algn="ctr">
              <a:spcBef>
                <a:spcPts val="800"/>
              </a:spcBef>
              <a:spcAft>
                <a:spcPts val="1200"/>
              </a:spcAft>
              <a:defRPr b="1" sz="1300">
                <a:solidFill>
                  <a:srgbClr val="0F172A"/>
                </a:solidFill>
                <a:latin typeface="Segoe UI"/>
              </a:defRPr>
            </a:pPr>
            <a:r>
              <a:t>Grammar &amp; TTS</a:t>
            </a:r>
          </a:p>
          <a:p>
            <a:pPr algn="ctr">
              <a:defRPr sz="1100">
                <a:solidFill>
                  <a:srgbClr val="475569"/>
                </a:solidFill>
                <a:latin typeface="Segoe UI"/>
              </a:defRPr>
            </a:pPr>
            <a:r>
              <a:t>ISL -&gt; English</a:t>
            </a:r>
            <a:br/>
            <a:r>
              <a:t>PyTTSx3 Audio</a:t>
            </a:r>
            <a:br/>
            <a:r>
              <a:t>React Live HUD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RUBRIC CRITERIA 1</a:t>
            </a:r>
          </a:p>
          <a:p>
            <a:pPr>
              <a:spcBef>
                <a:spcPts val="400"/>
              </a:spcBef>
              <a:defRPr sz="2200" b="1">
                <a:solidFill>
                  <a:srgbClr val="0F172A"/>
                </a:solidFill>
                <a:latin typeface="Segoe UI"/>
              </a:defRPr>
            </a:pPr>
            <a:r>
              <a:t>Module Description — Technical Breakdown (10 Marks)</a:t>
            </a:r>
          </a:p>
        </p:txBody>
      </p:sp>
      <p:sp>
        <p:nvSpPr>
          <p:cNvPr id="3" name="Rounded Rectangle 2"/>
          <p:cNvSpPr/>
          <p:nvPr/>
        </p:nvSpPr>
        <p:spPr>
          <a:xfrm>
            <a:off x="731520" y="1645920"/>
            <a:ext cx="5212080" cy="1371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400"/>
              </a:spcAft>
            </a:pPr>
            <a:r>
              <a:rPr b="1" sz="1200">
                <a:solidFill>
                  <a:srgbClr val="1E3A8A"/>
                </a:solidFill>
              </a:rPr>
              <a:t>M1: Video Acquisition  </a:t>
            </a:r>
          </a:p>
          <a:p>
            <a:pPr>
              <a:defRPr sz="1050">
                <a:solidFill>
                  <a:srgbClr val="475569"/>
                </a:solidFill>
              </a:defRPr>
            </a:pPr>
            <a:r>
              <a:t>• Process: Captures native 30 FPS @ 640x480, WebRTC/OpenCV buffer</a:t>
            </a:r>
            <a:br/>
            <a:r>
              <a:t>• Input ➔ Output: Webcam RGB stream ➔ Raw BGR frame buffer</a:t>
            </a:r>
          </a:p>
        </p:txBody>
      </p:sp>
      <p:sp>
        <p:nvSpPr>
          <p:cNvPr id="4" name="Rounded Rectangle 3"/>
          <p:cNvSpPr/>
          <p:nvPr/>
        </p:nvSpPr>
        <p:spPr>
          <a:xfrm>
            <a:off x="6217920" y="1645920"/>
            <a:ext cx="5212080" cy="1371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400"/>
              </a:spcAft>
            </a:pPr>
            <a:r>
              <a:rPr b="1" sz="1200">
                <a:solidFill>
                  <a:srgbClr val="1E3A8A"/>
                </a:solidFill>
              </a:rPr>
              <a:t>M2: Landmark Extraction  </a:t>
            </a:r>
          </a:p>
          <a:p>
            <a:pPr>
              <a:defRPr sz="1050">
                <a:solidFill>
                  <a:srgbClr val="475569"/>
                </a:solidFill>
              </a:defRPr>
            </a:pPr>
            <a:r>
              <a:t>• Process: MediaPipe Holistic tracks 133 skeletal landmarks with sub-pixel smoothing</a:t>
            </a:r>
            <a:br/>
            <a:r>
              <a:t>• Input ➔ Output: Raw video frames ➔ Coordinate matrix (133 x 2)</a:t>
            </a:r>
          </a:p>
        </p:txBody>
      </p:sp>
      <p:sp>
        <p:nvSpPr>
          <p:cNvPr id="5" name="Rounded Rectangle 4"/>
          <p:cNvSpPr/>
          <p:nvPr/>
        </p:nvSpPr>
        <p:spPr>
          <a:xfrm>
            <a:off x="731520" y="3200400"/>
            <a:ext cx="5212080" cy="1371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400"/>
              </a:spcAft>
            </a:pPr>
            <a:r>
              <a:rPr b="1" sz="1200">
                <a:solidFill>
                  <a:srgbClr val="1E3A8A"/>
                </a:solidFill>
              </a:rPr>
              <a:t>M3: Kinematic Engineering  </a:t>
            </a:r>
          </a:p>
          <a:p>
            <a:pPr>
              <a:defRPr sz="1050">
                <a:solidFill>
                  <a:srgbClr val="475569"/>
                </a:solidFill>
              </a:defRPr>
            </a:pPr>
            <a:r>
              <a:t>• Process: Torso normalization; calculates velocity V_t and acceleration A_t</a:t>
            </a:r>
            <a:br/>
            <a:r>
              <a:t>• Input ➔ Output: Landmark coordinates ➔ Kinematic tensor [B, 32, 133, 6]</a:t>
            </a:r>
          </a:p>
        </p:txBody>
      </p:sp>
      <p:sp>
        <p:nvSpPr>
          <p:cNvPr id="6" name="Rounded Rectangle 5"/>
          <p:cNvSpPr/>
          <p:nvPr/>
        </p:nvSpPr>
        <p:spPr>
          <a:xfrm>
            <a:off x="6217920" y="3200400"/>
            <a:ext cx="5212080" cy="1371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400"/>
              </a:spcAft>
            </a:pPr>
            <a:r>
              <a:rPr b="1" sz="1200">
                <a:solidFill>
                  <a:srgbClr val="1E3A8A"/>
                </a:solidFill>
              </a:rPr>
              <a:t>M4: AC-HWGATE Classifier  </a:t>
            </a:r>
          </a:p>
          <a:p>
            <a:pPr>
              <a:defRPr sz="1050">
                <a:solidFill>
                  <a:srgbClr val="475569"/>
                </a:solidFill>
              </a:defRPr>
            </a:pPr>
            <a:r>
              <a:t>• Process: Adaptive graph attention + windowed attention + context transformer</a:t>
            </a:r>
            <a:br/>
            <a:r>
              <a:t>• Input ➔ Output: 798-D Kinematic tensor ➔ 40-class logits + 128-D embedding</a:t>
            </a:r>
          </a:p>
        </p:txBody>
      </p:sp>
      <p:sp>
        <p:nvSpPr>
          <p:cNvPr id="7" name="Rounded Rectangle 6"/>
          <p:cNvSpPr/>
          <p:nvPr/>
        </p:nvSpPr>
        <p:spPr>
          <a:xfrm>
            <a:off x="731520" y="4754880"/>
            <a:ext cx="5212080" cy="1371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400"/>
              </a:spcAft>
            </a:pPr>
            <a:r>
              <a:rPr b="1" sz="1200">
                <a:solidFill>
                  <a:srgbClr val="1E3A8A"/>
                </a:solidFill>
              </a:rPr>
              <a:t>M5: Multi-Signal Rejection  </a:t>
            </a:r>
          </a:p>
          <a:p>
            <a:pPr>
              <a:defRPr sz="1050">
                <a:solidFill>
                  <a:srgbClr val="475569"/>
                </a:solidFill>
              </a:defRPr>
            </a:pPr>
            <a:r>
              <a:t>• Process: Hand quality, motion variance, margin, and prototype cosine distance</a:t>
            </a:r>
            <a:br/>
            <a:r>
              <a:t>• Input ➔ Output: Logits &amp; embedding ➔ Filtered trigger or UNKNOWN</a:t>
            </a:r>
          </a:p>
        </p:txBody>
      </p:sp>
      <p:sp>
        <p:nvSpPr>
          <p:cNvPr id="8" name="Rounded Rectangle 7"/>
          <p:cNvSpPr/>
          <p:nvPr/>
        </p:nvSpPr>
        <p:spPr>
          <a:xfrm>
            <a:off x="6217920" y="4754880"/>
            <a:ext cx="5212080" cy="13716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400"/>
              </a:spcAft>
            </a:pPr>
            <a:r>
              <a:rPr b="1" sz="1200">
                <a:solidFill>
                  <a:srgbClr val="1E3A8A"/>
                </a:solidFill>
              </a:rPr>
              <a:t>M6: Grammar &amp; Speech  </a:t>
            </a:r>
          </a:p>
          <a:p>
            <a:pPr>
              <a:defRPr sz="1050">
                <a:solidFill>
                  <a:srgbClr val="475569"/>
                </a:solidFill>
              </a:defRPr>
            </a:pPr>
            <a:r>
              <a:t>• Process: Rule-based grammar mapping + local NMT + PyTTSx3 acoustic speech</a:t>
            </a:r>
            <a:br/>
            <a:r>
              <a:t>• Input ➔ Output: Confirmed sign gloss ➔ Synthesized speech &amp; UI 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PROPOSED NEURAL ARCHITECTURE</a:t>
            </a:r>
          </a:p>
          <a:p>
            <a:pPr>
              <a:spcBef>
                <a:spcPts val="400"/>
              </a:spcBef>
              <a:defRPr sz="2200" b="1">
                <a:solidFill>
                  <a:srgbClr val="0F172A"/>
                </a:solidFill>
                <a:latin typeface="Segoe UI"/>
              </a:defRPr>
            </a:pPr>
            <a:r>
              <a:t>AC-HWGATE Model Architecture</a:t>
            </a:r>
          </a:p>
        </p:txBody>
      </p:sp>
      <p:sp>
        <p:nvSpPr>
          <p:cNvPr id="3" name="Rounded Rectangle 2"/>
          <p:cNvSpPr/>
          <p:nvPr/>
        </p:nvSpPr>
        <p:spPr>
          <a:xfrm>
            <a:off x="731520" y="1645920"/>
            <a:ext cx="52120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000"/>
              </a:spcAft>
              <a:defRPr b="1" sz="1500">
                <a:solidFill>
                  <a:srgbClr val="1E3A8A"/>
                </a:solidFill>
              </a:defRPr>
            </a:pPr>
            <a:r>
              <a:t>Architectural Specifications</a:t>
            </a:r>
          </a:p>
          <a:p>
            <a:pPr>
              <a:spcAft>
                <a:spcPts val="800"/>
              </a:spcAft>
            </a:pPr>
            <a:r>
              <a:rPr b="1" sz="1150">
                <a:solidFill>
                  <a:srgbClr val="0F172A"/>
                </a:solidFill>
              </a:rPr>
              <a:t>• Parameter Count: </a:t>
            </a:r>
            <a:r>
              <a:rPr sz="1150">
                <a:solidFill>
                  <a:srgbClr val="475569"/>
                </a:solidFill>
              </a:rPr>
              <a:t>972,191 parameters (3.71 MB) — verified via PyTorch.</a:t>
            </a:r>
          </a:p>
          <a:p>
            <a:pPr>
              <a:spcAft>
                <a:spcPts val="800"/>
              </a:spcAft>
            </a:pPr>
            <a:r>
              <a:rPr b="1" sz="1150">
                <a:solidFill>
                  <a:srgbClr val="0F172A"/>
                </a:solidFill>
              </a:rPr>
              <a:t>• Input Topology: </a:t>
            </a:r>
            <a:r>
              <a:rPr sz="1150">
                <a:solidFill>
                  <a:srgbClr val="475569"/>
                </a:solidFill>
              </a:rPr>
              <a:t>32 frames x 133 joints x 6 channels (798 dims/frame).</a:t>
            </a:r>
          </a:p>
          <a:p>
            <a:pPr>
              <a:spcAft>
                <a:spcPts val="800"/>
              </a:spcAft>
            </a:pPr>
            <a:r>
              <a:rPr b="1" sz="1150">
                <a:solidFill>
                  <a:srgbClr val="0F172A"/>
                </a:solidFill>
              </a:rPr>
              <a:t>• Embedding Dimension: </a:t>
            </a:r>
            <a:r>
              <a:rPr sz="1150">
                <a:solidFill>
                  <a:srgbClr val="475569"/>
                </a:solidFill>
              </a:rPr>
              <a:t>D = 128 latent feature projection.</a:t>
            </a:r>
          </a:p>
          <a:p>
            <a:pPr>
              <a:spcAft>
                <a:spcPts val="800"/>
              </a:spcAft>
            </a:pPr>
            <a:r>
              <a:rPr b="1" sz="1150">
                <a:solidFill>
                  <a:srgbClr val="0F172A"/>
                </a:solidFill>
              </a:rPr>
              <a:t>• Hierarchical Parts: </a:t>
            </a:r>
            <a:r>
              <a:rPr sz="1150">
                <a:solidFill>
                  <a:srgbClr val="475569"/>
                </a:solidFill>
              </a:rPr>
              <a:t>Pose (33), Left Hand (21), Right Hand (21), Face (58).</a:t>
            </a:r>
          </a:p>
          <a:p>
            <a:pPr>
              <a:spcAft>
                <a:spcPts val="800"/>
              </a:spcAft>
            </a:pPr>
            <a:r>
              <a:rPr b="1" sz="1150">
                <a:solidFill>
                  <a:srgbClr val="0F172A"/>
                </a:solidFill>
              </a:rPr>
              <a:t>• Windowed Attention: </a:t>
            </a:r>
            <a:r>
              <a:rPr sz="1150">
                <a:solidFill>
                  <a:srgbClr val="475569"/>
                </a:solidFill>
              </a:rPr>
              <a:t>Local sliding window W = 8 frames (linear complexity).</a:t>
            </a:r>
          </a:p>
          <a:p>
            <a:pPr>
              <a:spcAft>
                <a:spcPts val="800"/>
              </a:spcAft>
            </a:pPr>
            <a:r>
              <a:rPr b="1" sz="1150">
                <a:solidFill>
                  <a:srgbClr val="0F172A"/>
                </a:solidFill>
              </a:rPr>
              <a:t>• Global Transformer: </a:t>
            </a:r>
            <a:r>
              <a:rPr sz="1150">
                <a:solidFill>
                  <a:srgbClr val="475569"/>
                </a:solidFill>
              </a:rPr>
              <a:t>3 layers, 4 attention heads, d_ff = 512 feed-forward.</a:t>
            </a:r>
          </a:p>
        </p:txBody>
      </p:sp>
      <p:sp>
        <p:nvSpPr>
          <p:cNvPr id="4" name="Rounded Rectangle 3"/>
          <p:cNvSpPr/>
          <p:nvPr/>
        </p:nvSpPr>
        <p:spPr>
          <a:xfrm>
            <a:off x="6217920" y="1645920"/>
            <a:ext cx="52120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000"/>
              </a:spcAft>
              <a:defRPr b="1" sz="1500">
                <a:solidFill>
                  <a:srgbClr val="0D9488"/>
                </a:solidFill>
              </a:defRPr>
            </a:pPr>
            <a:r>
              <a:t>Core Mathematical Innovations</a:t>
            </a:r>
          </a:p>
          <a:p>
            <a:pPr>
              <a:spcAft>
                <a:spcPts val="800"/>
              </a:spcAft>
            </a:pPr>
            <a:r>
              <a:rPr b="1" sz="1150">
                <a:solidFill>
                  <a:srgbClr val="1E3A8A"/>
                </a:solidFill>
              </a:rPr>
              <a:t>✦ Adaptive Graph Edge Learning:
</a:t>
            </a:r>
            <a:r>
              <a:rPr sz="1100">
                <a:solidFill>
                  <a:srgbClr val="475569"/>
                </a:solidFill>
              </a:rPr>
              <a:t>A_adaptive = A_physical + Softmax(Q_s · K_s^T / √d_k)
Dynamically forms edges between left &amp; right hands during two-handed signs.</a:t>
            </a:r>
          </a:p>
          <a:p>
            <a:pPr>
              <a:spcAft>
                <a:spcPts val="800"/>
              </a:spcAft>
            </a:pPr>
            <a:r>
              <a:rPr b="1" sz="1150">
                <a:solidFill>
                  <a:srgbClr val="1E3A8A"/>
                </a:solidFill>
              </a:rPr>
              <a:t>✦ Hierarchical Body-Part Squeeze-and-Excitation:
</a:t>
            </a:r>
            <a:r>
              <a:rPr sz="1100">
                <a:solidFill>
                  <a:srgbClr val="475569"/>
                </a:solidFill>
              </a:rPr>
              <a:t>Channel attention dynamically weights dominant hand over face/pose.</a:t>
            </a:r>
          </a:p>
          <a:p>
            <a:pPr>
              <a:spcAft>
                <a:spcPts val="800"/>
              </a:spcAft>
            </a:pPr>
            <a:r>
              <a:rPr b="1" sz="1150">
                <a:solidFill>
                  <a:srgbClr val="1E3A8A"/>
                </a:solidFill>
              </a:rPr>
              <a:t>✦ Temporal Attention Pooling:
</a:t>
            </a:r>
            <a:r>
              <a:rPr sz="1100">
                <a:solidFill>
                  <a:srgbClr val="475569"/>
                </a:solidFill>
              </a:rPr>
              <a:t>Learns dynamic temporal weights α_t across all 32 frames, prioritizing gesture apex over transition movements.</a:t>
            </a:r>
          </a:p>
          <a:p>
            <a:pPr>
              <a:spcAft>
                <a:spcPts val="800"/>
              </a:spcAft>
            </a:pPr>
            <a:r>
              <a:rPr b="1" sz="1150">
                <a:solidFill>
                  <a:srgbClr val="1E3A8A"/>
                </a:solidFill>
              </a:rPr>
              <a:t>✦ Dual-Head Output:
</a:t>
            </a:r>
            <a:r>
              <a:rPr sz="1100">
                <a:solidFill>
                  <a:srgbClr val="475569"/>
                </a:solidFill>
              </a:rPr>
              <a:t>Emits 40-class logit vector alongside 128-D latent sequence embedding for prototype distance verification.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RUBRIC CRITERIA 2</a:t>
            </a:r>
          </a:p>
          <a:p>
            <a:pPr>
              <a:spcBef>
                <a:spcPts val="400"/>
              </a:spcBef>
              <a:defRPr sz="2200" b="1">
                <a:solidFill>
                  <a:srgbClr val="0F172A"/>
                </a:solidFill>
                <a:latin typeface="Segoe UI"/>
              </a:defRPr>
            </a:pPr>
            <a:r>
              <a:t>Implementation of Proposed System (10 Marks)</a:t>
            </a:r>
          </a:p>
        </p:txBody>
      </p:sp>
      <p:sp>
        <p:nvSpPr>
          <p:cNvPr id="3" name="Rounded Rectangle 2"/>
          <p:cNvSpPr/>
          <p:nvPr/>
        </p:nvSpPr>
        <p:spPr>
          <a:xfrm>
            <a:off x="731520" y="1645920"/>
            <a:ext cx="5212080" cy="2194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300">
                <a:solidFill>
                  <a:srgbClr val="1E3A8A"/>
                </a:solidFill>
              </a:defRPr>
            </a:pPr>
            <a:r>
              <a:t>Client Frontend (React 18 + Vite)</a:t>
            </a:r>
          </a:p>
          <a:p>
            <a:pPr>
              <a:defRPr sz="1100">
                <a:solidFill>
                  <a:srgbClr val="475569"/>
                </a:solidFill>
              </a:defRPr>
            </a:pPr>
            <a:r>
              <a:t>• Sub-16ms HTML5 Canvas skeletal landmark rendering</a:t>
            </a:r>
            <a:br/>
            <a:r>
              <a:t>• WebSocket / REST duplex communication</a:t>
            </a:r>
            <a:br/>
            <a:r>
              <a:t>• Live confidence gauge &amp; Web Speech audio synthesis</a:t>
            </a:r>
          </a:p>
        </p:txBody>
      </p:sp>
      <p:sp>
        <p:nvSpPr>
          <p:cNvPr id="4" name="Rounded Rectangle 3"/>
          <p:cNvSpPr/>
          <p:nvPr/>
        </p:nvSpPr>
        <p:spPr>
          <a:xfrm>
            <a:off x="6217920" y="1645920"/>
            <a:ext cx="5212080" cy="2194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300">
                <a:solidFill>
                  <a:srgbClr val="1E3A8A"/>
                </a:solidFill>
              </a:defRPr>
            </a:pPr>
            <a:r>
              <a:t>Asynchronous Backend (FastAPI)</a:t>
            </a:r>
          </a:p>
          <a:p>
            <a:pPr>
              <a:defRPr sz="1100">
                <a:solidFill>
                  <a:srgbClr val="475569"/>
                </a:solidFill>
              </a:defRPr>
            </a:pPr>
            <a:r>
              <a:t>• High-concurrency async Python 3.11 server (app.py)</a:t>
            </a:r>
            <a:br/>
            <a:r>
              <a:t>• Running Uvicorn ASGI on localhost:8000</a:t>
            </a:r>
            <a:br/>
            <a:r>
              <a:t>• Modular routers for /predict, /health, /translate</a:t>
            </a:r>
          </a:p>
        </p:txBody>
      </p:sp>
      <p:sp>
        <p:nvSpPr>
          <p:cNvPr id="5" name="Rounded Rectangle 4"/>
          <p:cNvSpPr/>
          <p:nvPr/>
        </p:nvSpPr>
        <p:spPr>
          <a:xfrm>
            <a:off x="731520" y="3931920"/>
            <a:ext cx="5212080" cy="2194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300">
                <a:solidFill>
                  <a:srgbClr val="1E3A8A"/>
                </a:solidFill>
              </a:defRPr>
            </a:pPr>
            <a:r>
              <a:t>Inference Engine (ONNX Runtime CUDA)</a:t>
            </a:r>
          </a:p>
          <a:p>
            <a:pPr>
              <a:defRPr sz="1100">
                <a:solidFill>
                  <a:srgbClr val="475569"/>
                </a:solidFill>
              </a:defRPr>
            </a:pPr>
            <a:r>
              <a:t>• ONNX Runtime 1.18 with CUDAExecutionProvider</a:t>
            </a:r>
            <a:br/>
            <a:r>
              <a:t>• Bit-level parity: max|Δ| = 2.86 x 10^-6 &lt; 1.0 x 10^-3</a:t>
            </a:r>
            <a:br/>
            <a:r>
              <a:t>• Sub-millisecond execution: 0.82 ms / sequence</a:t>
            </a:r>
          </a:p>
        </p:txBody>
      </p:sp>
      <p:sp>
        <p:nvSpPr>
          <p:cNvPr id="6" name="Rounded Rectangle 5"/>
          <p:cNvSpPr/>
          <p:nvPr/>
        </p:nvSpPr>
        <p:spPr>
          <a:xfrm>
            <a:off x="6217920" y="3931920"/>
            <a:ext cx="5212080" cy="2194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300">
                <a:solidFill>
                  <a:srgbClr val="1E3A8A"/>
                </a:solidFill>
              </a:defRPr>
            </a:pPr>
            <a:r>
              <a:t>Target GPU &amp; Repository Artifacts</a:t>
            </a:r>
          </a:p>
          <a:p>
            <a:pPr>
              <a:defRPr sz="1100">
                <a:solidFill>
                  <a:srgbClr val="475569"/>
                </a:solidFill>
              </a:defRPr>
            </a:pPr>
            <a:r>
              <a:t>• Hardware: NVIDIA RTX 3050 Laptop GPU (4GB VRAM)</a:t>
            </a:r>
            <a:br/>
            <a:r>
              <a:t>• Model: training/models/ac_hwgate.py</a:t>
            </a:r>
            <a:br/>
            <a:r>
              <a:t>• Master Pipeline: train_maximum.py &amp; demo/live_demo.py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DATA INTEGRITY</a:t>
            </a:r>
          </a:p>
          <a:p>
            <a:pPr>
              <a:spcBef>
                <a:spcPts val="400"/>
              </a:spcBef>
              <a:defRPr sz="2200" b="1">
                <a:solidFill>
                  <a:srgbClr val="0F172A"/>
                </a:solidFill>
                <a:latin typeface="Segoe UI"/>
              </a:defRPr>
            </a:pPr>
            <a:r>
              <a:t>Dataset Engineering &amp; Zero-Leakage Splitting</a:t>
            </a:r>
          </a:p>
        </p:txBody>
      </p:sp>
      <p:graphicFrame>
        <p:nvGraphicFramePr>
          <p:cNvPr id="3" name="Table 2"/>
          <p:cNvGraphicFramePr>
            <a:graphicFrameLocks noGrp="1"/>
          </p:cNvGraphicFramePr>
          <p:nvPr/>
        </p:nvGraphicFramePr>
        <p:xfrm>
          <a:off x="731520" y="1645920"/>
          <a:ext cx="10698480" cy="2377440"/>
        </p:xfrm>
        <a:graphic>
          <a:graphicData uri="http://schemas.openxmlformats.org/drawingml/2006/table">
            <a:tbl>
              <a:tblPr firstRow="1" bandRow="1">
                <a:tableStyleId>{5C22544A-7EE6-4342-B048-85BDC9FD1C3A}</a:tableStyleId>
              </a:tblPr>
              <a:tblGrid>
                <a:gridCol w="1828800"/>
                <a:gridCol w="1645920"/>
                <a:gridCol w="1645920"/>
                <a:gridCol w="3840480"/>
                <a:gridCol w="1737360"/>
              </a:tblGrid>
              <a:tr h="594360">
                <a:tc>
                  <a:txBody>
                    <a:bodyPr/>
                    <a:lstStyle/>
                    <a:p>
                      <a:pPr>
                        <a:defRPr b="1" sz="1100">
                          <a:solidFill>
                            <a:srgbClr val="FFFFFF"/>
                          </a:solidFill>
                        </a:defRPr>
                      </a:pPr>
                      <a:r>
                        <a:t>Partition</a:t>
                      </a:r>
                    </a:p>
                  </a:txBody>
                  <a:tcPr>
                    <a:solidFill>
                      <a:srgbClr val="1E3A8A"/>
                    </a:solidFill>
                  </a:tcPr>
                </a:tc>
                <a:tc>
                  <a:txBody>
                    <a:bodyPr/>
                    <a:lstStyle/>
                    <a:p>
                      <a:pPr>
                        <a:defRPr b="1" sz="1100">
                          <a:solidFill>
                            <a:srgbClr val="FFFFFF"/>
                          </a:solidFill>
                        </a:defRPr>
                      </a:pPr>
                      <a:r>
                        <a:t>Sequences</a:t>
                      </a:r>
                    </a:p>
                  </a:txBody>
                  <a:tcPr>
                    <a:solidFill>
                      <a:srgbClr val="1E3A8A"/>
                    </a:solidFill>
                  </a:tcPr>
                </a:tc>
                <a:tc>
                  <a:txBody>
                    <a:bodyPr/>
                    <a:lstStyle/>
                    <a:p>
                      <a:pPr>
                        <a:defRPr b="1" sz="1100">
                          <a:solidFill>
                            <a:srgbClr val="FFFFFF"/>
                          </a:solidFill>
                        </a:defRPr>
                      </a:pPr>
                      <a:r>
                        <a:t>Percentage</a:t>
                      </a:r>
                    </a:p>
                  </a:txBody>
                  <a:tcPr>
                    <a:solidFill>
                      <a:srgbClr val="1E3A8A"/>
                    </a:solidFill>
                  </a:tcPr>
                </a:tc>
                <a:tc>
                  <a:txBody>
                    <a:bodyPr/>
                    <a:lstStyle/>
                    <a:p>
                      <a:pPr>
                        <a:defRPr b="1" sz="1100">
                          <a:solidFill>
                            <a:srgbClr val="FFFFFF"/>
                          </a:solidFill>
                        </a:defRPr>
                      </a:pPr>
                      <a:r>
                        <a:t>Signer Composition</a:t>
                      </a:r>
                    </a:p>
                  </a:txBody>
                  <a:tcPr>
                    <a:solidFill>
                      <a:srgbClr val="1E3A8A"/>
                    </a:solidFill>
                  </a:tcPr>
                </a:tc>
                <a:tc>
                  <a:txBody>
                    <a:bodyPr/>
                    <a:lstStyle/>
                    <a:p>
                      <a:pPr>
                        <a:defRPr b="1" sz="1100">
                          <a:solidFill>
                            <a:srgbClr val="FFFFFF"/>
                          </a:solidFill>
                        </a:defRPr>
                      </a:pPr>
                      <a:r>
                        <a:t>Leakage Check</a:t>
                      </a:r>
                    </a:p>
                  </a:txBody>
                  <a:tcPr>
                    <a:solidFill>
                      <a:srgbClr val="1E3A8A"/>
                    </a:solidFill>
                  </a:tcPr>
                </a:tc>
              </a:tr>
              <a:tr h="594360">
                <a:tc>
                  <a:txBody>
                    <a:bodyPr/>
                    <a:lstStyle/>
                    <a:p>
                      <a:pPr>
                        <a:defRPr sz="1050" b="1">
                          <a:solidFill>
                            <a:srgbClr val="475569"/>
                          </a:solidFill>
                        </a:defRPr>
                      </a:pPr>
                      <a:r>
                        <a:t>Train Partition</a:t>
                      </a:r>
                    </a:p>
                  </a:txBody>
                  <a:tcPr>
                    <a:solidFill>
                      <a:srgbClr val="F8FAFC"/>
                    </a:solidFill>
                  </a:tcPr>
                </a:tc>
                <a:tc>
                  <a:txBody>
                    <a:bodyPr/>
                    <a:lstStyle/>
                    <a:p>
                      <a:pPr>
                        <a:defRPr sz="1050">
                          <a:solidFill>
                            <a:srgbClr val="475569"/>
                          </a:solidFill>
                        </a:defRPr>
                      </a:pPr>
                      <a:r>
                        <a:t>2,144</a:t>
                      </a:r>
                    </a:p>
                  </a:txBody>
                  <a:tcPr>
                    <a:solidFill>
                      <a:srgbClr val="F8FAFC"/>
                    </a:solidFill>
                  </a:tcPr>
                </a:tc>
                <a:tc>
                  <a:txBody>
                    <a:bodyPr/>
                    <a:lstStyle/>
                    <a:p>
                      <a:pPr>
                        <a:defRPr sz="1050">
                          <a:solidFill>
                            <a:srgbClr val="475569"/>
                          </a:solidFill>
                        </a:defRPr>
                      </a:pPr>
                      <a:r>
                        <a:t>69.6%</a:t>
                      </a:r>
                    </a:p>
                  </a:txBody>
                  <a:tcPr>
                    <a:solidFill>
                      <a:srgbClr val="F8FAFC"/>
                    </a:solidFill>
                  </a:tcPr>
                </a:tc>
                <a:tc>
                  <a:txBody>
                    <a:bodyPr/>
                    <a:lstStyle/>
                    <a:p>
                      <a:pPr>
                        <a:defRPr sz="1050">
                          <a:solidFill>
                            <a:srgbClr val="475569"/>
                          </a:solidFill>
                        </a:defRPr>
                      </a:pPr>
                      <a:r>
                        <a:t>ISL500 User001–User010 (10 signers) + 70% stratified</a:t>
                      </a:r>
                    </a:p>
                  </a:txBody>
                  <a:tcPr>
                    <a:solidFill>
                      <a:srgbClr val="F8FAFC"/>
                    </a:solidFill>
                  </a:tcPr>
                </a:tc>
                <a:tc>
                  <a:txBody>
                    <a:bodyPr/>
                    <a:lstStyle/>
                    <a:p>
                      <a:pPr>
                        <a:defRPr sz="1050">
                          <a:solidFill>
                            <a:srgbClr val="475569"/>
                          </a:solidFill>
                        </a:defRPr>
                      </a:pPr>
                      <a:r>
                        <a:t>Clean Baseline</a:t>
                      </a:r>
                    </a:p>
                  </a:txBody>
                  <a:tcPr>
                    <a:solidFill>
                      <a:srgbClr val="F8FAFC"/>
                    </a:solidFill>
                  </a:tcPr>
                </a:tc>
              </a:tr>
              <a:tr h="594360">
                <a:tc>
                  <a:txBody>
                    <a:bodyPr/>
                    <a:lstStyle/>
                    <a:p>
                      <a:pPr>
                        <a:defRPr sz="1050" b="1">
                          <a:solidFill>
                            <a:srgbClr val="475569"/>
                          </a:solidFill>
                        </a:defRPr>
                      </a:pPr>
                      <a:r>
                        <a:t>Validation Partition</a:t>
                      </a:r>
                    </a:p>
                  </a:txBody>
                  <a:tcPr>
                    <a:solidFill>
                      <a:srgbClr val="FFFFFF"/>
                    </a:solidFill>
                  </a:tcPr>
                </a:tc>
                <a:tc>
                  <a:txBody>
                    <a:bodyPr/>
                    <a:lstStyle/>
                    <a:p>
                      <a:pPr>
                        <a:defRPr sz="1050">
                          <a:solidFill>
                            <a:srgbClr val="475569"/>
                          </a:solidFill>
                        </a:defRPr>
                      </a:pPr>
                      <a:r>
                        <a:t>454</a:t>
                      </a:r>
                    </a:p>
                  </a:txBody>
                  <a:tcPr>
                    <a:solidFill>
                      <a:srgbClr val="FFFFFF"/>
                    </a:solidFill>
                  </a:tcPr>
                </a:tc>
                <a:tc>
                  <a:txBody>
                    <a:bodyPr/>
                    <a:lstStyle/>
                    <a:p>
                      <a:pPr>
                        <a:defRPr sz="1050">
                          <a:solidFill>
                            <a:srgbClr val="475569"/>
                          </a:solidFill>
                        </a:defRPr>
                      </a:pPr>
                      <a:r>
                        <a:t>14.7%</a:t>
                      </a:r>
                    </a:p>
                  </a:txBody>
                  <a:tcPr>
                    <a:solidFill>
                      <a:srgbClr val="FFFFFF"/>
                    </a:solidFill>
                  </a:tcPr>
                </a:tc>
                <a:tc>
                  <a:txBody>
                    <a:bodyPr/>
                    <a:lstStyle/>
                    <a:p>
                      <a:pPr>
                        <a:defRPr sz="1050">
                          <a:solidFill>
                            <a:srgbClr val="475569"/>
                          </a:solidFill>
                        </a:defRPr>
                      </a:pPr>
                      <a:r>
                        <a:t>ISL500 User011–User012 (2 signers) + 15% stratified</a:t>
                      </a:r>
                    </a:p>
                  </a:txBody>
                  <a:tcPr>
                    <a:solidFill>
                      <a:srgbClr val="FFFFFF"/>
                    </a:solidFill>
                  </a:tcPr>
                </a:tc>
                <a:tc>
                  <a:txBody>
                    <a:bodyPr/>
                    <a:lstStyle/>
                    <a:p>
                      <a:pPr>
                        <a:defRPr sz="1050">
                          <a:solidFill>
                            <a:srgbClr val="475569"/>
                          </a:solidFill>
                        </a:defRPr>
                      </a:pPr>
                      <a:r>
                        <a:t>0 Overlap Verified</a:t>
                      </a:r>
                    </a:p>
                  </a:txBody>
                  <a:tcPr>
                    <a:solidFill>
                      <a:srgbClr val="FFFFFF"/>
                    </a:solidFill>
                  </a:tcPr>
                </a:tc>
              </a:tr>
              <a:tr h="594360">
                <a:tc>
                  <a:txBody>
                    <a:bodyPr/>
                    <a:lstStyle/>
                    <a:p>
                      <a:pPr>
                        <a:defRPr sz="1050" b="1">
                          <a:solidFill>
                            <a:srgbClr val="1E3A8A"/>
                          </a:solidFill>
                        </a:defRPr>
                      </a:pPr>
                      <a:r>
                        <a:t>Test Partition (Untouched)</a:t>
                      </a:r>
                    </a:p>
                  </a:txBody>
                  <a:tcPr>
                    <a:solidFill>
                      <a:srgbClr val="EEF2FF"/>
                    </a:solidFill>
                  </a:tcPr>
                </a:tc>
                <a:tc>
                  <a:txBody>
                    <a:bodyPr/>
                    <a:lstStyle/>
                    <a:p>
                      <a:pPr>
                        <a:defRPr sz="1050" b="1">
                          <a:solidFill>
                            <a:srgbClr val="1E3A8A"/>
                          </a:solidFill>
                        </a:defRPr>
                      </a:pPr>
                      <a:r>
                        <a:t>483</a:t>
                      </a:r>
                    </a:p>
                  </a:txBody>
                  <a:tcPr>
                    <a:solidFill>
                      <a:srgbClr val="EEF2FF"/>
                    </a:solidFill>
                  </a:tcPr>
                </a:tc>
                <a:tc>
                  <a:txBody>
                    <a:bodyPr/>
                    <a:lstStyle/>
                    <a:p>
                      <a:pPr>
                        <a:defRPr sz="1050" b="1">
                          <a:solidFill>
                            <a:srgbClr val="1E3A8A"/>
                          </a:solidFill>
                        </a:defRPr>
                      </a:pPr>
                      <a:r>
                        <a:t>15.7%</a:t>
                      </a:r>
                    </a:p>
                  </a:txBody>
                  <a:tcPr>
                    <a:solidFill>
                      <a:srgbClr val="EEF2FF"/>
                    </a:solidFill>
                  </a:tcPr>
                </a:tc>
                <a:tc>
                  <a:txBody>
                    <a:bodyPr/>
                    <a:lstStyle/>
                    <a:p>
                      <a:pPr>
                        <a:defRPr sz="1050" b="1">
                          <a:solidFill>
                            <a:srgbClr val="1E3A8A"/>
                          </a:solidFill>
                        </a:defRPr>
                      </a:pPr>
                      <a:r>
                        <a:t>ISL500 User013–User015 (3 signers) + 15% stratified</a:t>
                      </a:r>
                    </a:p>
                  </a:txBody>
                  <a:tcPr>
                    <a:solidFill>
                      <a:srgbClr val="EEF2FF"/>
                    </a:solidFill>
                  </a:tcPr>
                </a:tc>
                <a:tc>
                  <a:txBody>
                    <a:bodyPr/>
                    <a:lstStyle/>
                    <a:p>
                      <a:pPr>
                        <a:defRPr sz="1050" b="1">
                          <a:solidFill>
                            <a:srgbClr val="1E3A8A"/>
                          </a:solidFill>
                        </a:defRPr>
                      </a:pPr>
                      <a:r>
                        <a:t>0 Overlap Verified</a:t>
                      </a:r>
                    </a:p>
                  </a:txBody>
                  <a:tcPr>
                    <a:solidFill>
                      <a:srgbClr val="EEF2FF"/>
                    </a:solidFill>
                  </a:tcPr>
                </a:tc>
              </a:tr>
            </a:tbl>
          </a:graphicData>
        </a:graphic>
      </p:graphicFrame>
      <p:sp>
        <p:nvSpPr>
          <p:cNvPr id="4" name="Rounded Rectangle 3"/>
          <p:cNvSpPr/>
          <p:nvPr/>
        </p:nvSpPr>
        <p:spPr>
          <a:xfrm>
            <a:off x="731520" y="4297680"/>
            <a:ext cx="10728655" cy="2011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400">
                <a:solidFill>
                  <a:srgbClr val="0D9488"/>
                </a:solidFill>
              </a:defRPr>
            </a:pPr>
            <a:r>
              <a:t>Dataset Expansion &amp; Quality Highlights</a:t>
            </a:r>
          </a:p>
          <a:p>
            <a:pPr>
              <a:spcAft>
                <a:spcPts val="400"/>
              </a:spcAft>
              <a:defRPr sz="1100">
                <a:solidFill>
                  <a:srgbClr val="475569"/>
                </a:solidFill>
              </a:defRPr>
            </a:pPr>
            <a:r>
              <a:t>✔ Autonomous Corpus Acquisition: Integrated 2,439 authentic sequences from Hugging Face ISL500 with Vidit031 base -&gt; 3,081 total clips (~5x dataset expansion).</a:t>
            </a:r>
          </a:p>
          <a:p>
            <a:pPr>
              <a:spcAft>
                <a:spcPts val="400"/>
              </a:spcAft>
              <a:defRPr sz="1100">
                <a:solidFill>
                  <a:srgbClr val="475569"/>
                </a:solidFill>
              </a:defRPr>
            </a:pPr>
            <a:r>
              <a:t>✔ Signer-Independent Protocol: Signers User013 through User015 appear ONLY in the test split; never seen during training or tuning.</a:t>
            </a:r>
          </a:p>
          <a:p>
            <a:pPr>
              <a:spcAft>
                <a:spcPts val="400"/>
              </a:spcAft>
              <a:defRPr sz="1100">
                <a:solidFill>
                  <a:srgbClr val="475569"/>
                </a:solidFill>
              </a:defRPr>
            </a:pPr>
            <a:r>
              <a:t>✔ Zero-Leakage Assurance: Strict SHA-256 hash deduplication ensures 0 clip overlap, 0 signer overlap, and zero data snooping.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EMPIRICAL OPTIMIZATION</a:t>
            </a:r>
          </a:p>
          <a:p>
            <a:pPr>
              <a:spcBef>
                <a:spcPts val="400"/>
              </a:spcBef>
              <a:defRPr sz="2200" b="1">
                <a:solidFill>
                  <a:srgbClr val="0F172A"/>
                </a:solidFill>
                <a:latin typeface="Segoe UI"/>
              </a:defRPr>
            </a:pPr>
            <a:r>
              <a:t>Controlled Experiments &amp; Ablation (EXP_A–G)</a:t>
            </a:r>
          </a:p>
        </p:txBody>
      </p:sp>
      <p:graphicFrame>
        <p:nvGraphicFramePr>
          <p:cNvPr id="3" name="Table 2"/>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914400"/>
                <a:gridCol w="3383280"/>
                <a:gridCol w="1188720"/>
                <a:gridCol w="1280160"/>
                <a:gridCol w="1280160"/>
                <a:gridCol w="1280160"/>
                <a:gridCol w="1371600"/>
              </a:tblGrid>
              <a:tr h="548640">
                <a:tc>
                  <a:txBody>
                    <a:bodyPr/>
                    <a:lstStyle/>
                    <a:p>
                      <a:pPr>
                        <a:defRPr b="1" sz="1000">
                          <a:solidFill>
                            <a:srgbClr val="FFFFFF"/>
                          </a:solidFill>
                        </a:defRPr>
                      </a:pPr>
                      <a:r>
                        <a:t>Exp ID</a:t>
                      </a:r>
                    </a:p>
                  </a:txBody>
                  <a:tcPr>
                    <a:solidFill>
                      <a:srgbClr val="1E3A8A"/>
                    </a:solidFill>
                  </a:tcPr>
                </a:tc>
                <a:tc>
                  <a:txBody>
                    <a:bodyPr/>
                    <a:lstStyle/>
                    <a:p>
                      <a:pPr>
                        <a:defRPr b="1" sz="1000">
                          <a:solidFill>
                            <a:srgbClr val="FFFFFF"/>
                          </a:solidFill>
                        </a:defRPr>
                      </a:pPr>
                      <a:r>
                        <a:t>Experimental Hypothesis</a:t>
                      </a:r>
                    </a:p>
                  </a:txBody>
                  <a:tcPr>
                    <a:solidFill>
                      <a:srgbClr val="1E3A8A"/>
                    </a:solidFill>
                  </a:tcPr>
                </a:tc>
                <a:tc>
                  <a:txBody>
                    <a:bodyPr/>
                    <a:lstStyle/>
                    <a:p>
                      <a:pPr>
                        <a:defRPr b="1" sz="1000">
                          <a:solidFill>
                            <a:srgbClr val="FFFFFF"/>
                          </a:solidFill>
                        </a:defRPr>
                      </a:pPr>
                      <a:r>
                        <a:t>Val Acc</a:t>
                      </a:r>
                    </a:p>
                  </a:txBody>
                  <a:tcPr>
                    <a:solidFill>
                      <a:srgbClr val="1E3A8A"/>
                    </a:solidFill>
                  </a:tcPr>
                </a:tc>
                <a:tc>
                  <a:txBody>
                    <a:bodyPr/>
                    <a:lstStyle/>
                    <a:p>
                      <a:pPr>
                        <a:defRPr b="1" sz="1000">
                          <a:solidFill>
                            <a:srgbClr val="FFFFFF"/>
                          </a:solidFill>
                        </a:defRPr>
                      </a:pPr>
                      <a:r>
                        <a:t>Val Macro F1</a:t>
                      </a:r>
                    </a:p>
                  </a:txBody>
                  <a:tcPr>
                    <a:solidFill>
                      <a:srgbClr val="1E3A8A"/>
                    </a:solidFill>
                  </a:tcPr>
                </a:tc>
                <a:tc>
                  <a:txBody>
                    <a:bodyPr/>
                    <a:lstStyle/>
                    <a:p>
                      <a:pPr>
                        <a:defRPr b="1" sz="1000">
                          <a:solidFill>
                            <a:srgbClr val="FFFFFF"/>
                          </a:solidFill>
                        </a:defRPr>
                      </a:pPr>
                      <a:r>
                        <a:t>Test Top-1</a:t>
                      </a:r>
                    </a:p>
                  </a:txBody>
                  <a:tcPr>
                    <a:solidFill>
                      <a:srgbClr val="1E3A8A"/>
                    </a:solidFill>
                  </a:tcPr>
                </a:tc>
                <a:tc>
                  <a:txBody>
                    <a:bodyPr/>
                    <a:lstStyle/>
                    <a:p>
                      <a:pPr>
                        <a:defRPr b="1" sz="1000">
                          <a:solidFill>
                            <a:srgbClr val="FFFFFF"/>
                          </a:solidFill>
                        </a:defRPr>
                      </a:pPr>
                      <a:r>
                        <a:t>Test Top-3</a:t>
                      </a:r>
                    </a:p>
                  </a:txBody>
                  <a:tcPr>
                    <a:solidFill>
                      <a:srgbClr val="1E3A8A"/>
                    </a:solidFill>
                  </a:tcPr>
                </a:tc>
                <a:tc>
                  <a:txBody>
                    <a:bodyPr/>
                    <a:lstStyle/>
                    <a:p>
                      <a:pPr>
                        <a:defRPr b="1" sz="1000">
                          <a:solidFill>
                            <a:srgbClr val="FFFFFF"/>
                          </a:solidFill>
                        </a:defRPr>
                      </a:pPr>
                      <a:r>
                        <a:t>Status</a:t>
                      </a:r>
                    </a:p>
                  </a:txBody>
                  <a:tcPr>
                    <a:solidFill>
                      <a:srgbClr val="1E3A8A"/>
                    </a:solidFill>
                  </a:tcPr>
                </a:tc>
              </a:tr>
              <a:tr h="548640">
                <a:tc>
                  <a:txBody>
                    <a:bodyPr/>
                    <a:lstStyle/>
                    <a:p>
                      <a:pPr>
                        <a:defRPr sz="950" b="1">
                          <a:solidFill>
                            <a:srgbClr val="475569"/>
                          </a:solidFill>
                        </a:defRPr>
                      </a:pPr>
                      <a:r>
                        <a:t>EXP_A</a:t>
                      </a:r>
                    </a:p>
                  </a:txBody>
                  <a:tcPr>
                    <a:solidFill>
                      <a:srgbClr val="F8FAFC"/>
                    </a:solidFill>
                  </a:tcPr>
                </a:tc>
                <a:tc>
                  <a:txBody>
                    <a:bodyPr/>
                    <a:lstStyle/>
                    <a:p>
                      <a:pPr>
                        <a:defRPr sz="950">
                          <a:solidFill>
                            <a:srgbClr val="475569"/>
                          </a:solidFill>
                        </a:defRPr>
                      </a:pPr>
                      <a:r>
                        <a:t>Baseline AC-HWGATE (No aug, uniform loss)</a:t>
                      </a:r>
                    </a:p>
                  </a:txBody>
                  <a:tcPr>
                    <a:solidFill>
                      <a:srgbClr val="F8FAFC"/>
                    </a:solidFill>
                  </a:tcPr>
                </a:tc>
                <a:tc>
                  <a:txBody>
                    <a:bodyPr/>
                    <a:lstStyle/>
                    <a:p>
                      <a:pPr>
                        <a:defRPr sz="950">
                          <a:solidFill>
                            <a:srgbClr val="475569"/>
                          </a:solidFill>
                        </a:defRPr>
                      </a:pPr>
                      <a:r>
                        <a:t>84.14%</a:t>
                      </a:r>
                    </a:p>
                  </a:txBody>
                  <a:tcPr>
                    <a:solidFill>
                      <a:srgbClr val="F8FAFC"/>
                    </a:solidFill>
                  </a:tcPr>
                </a:tc>
                <a:tc>
                  <a:txBody>
                    <a:bodyPr/>
                    <a:lstStyle/>
                    <a:p>
                      <a:pPr>
                        <a:defRPr sz="950">
                          <a:solidFill>
                            <a:srgbClr val="475569"/>
                          </a:solidFill>
                        </a:defRPr>
                      </a:pPr>
                      <a:r>
                        <a:t>68.67%</a:t>
                      </a:r>
                    </a:p>
                  </a:txBody>
                  <a:tcPr>
                    <a:solidFill>
                      <a:srgbClr val="F8FAFC"/>
                    </a:solidFill>
                  </a:tcPr>
                </a:tc>
                <a:tc>
                  <a:txBody>
                    <a:bodyPr/>
                    <a:lstStyle/>
                    <a:p>
                      <a:pPr>
                        <a:defRPr sz="950">
                          <a:solidFill>
                            <a:srgbClr val="475569"/>
                          </a:solidFill>
                        </a:defRPr>
                      </a:pPr>
                      <a:r>
                        <a:t>81.37%</a:t>
                      </a:r>
                    </a:p>
                  </a:txBody>
                  <a:tcPr>
                    <a:solidFill>
                      <a:srgbClr val="F8FAFC"/>
                    </a:solidFill>
                  </a:tcPr>
                </a:tc>
                <a:tc>
                  <a:txBody>
                    <a:bodyPr/>
                    <a:lstStyle/>
                    <a:p>
                      <a:pPr>
                        <a:defRPr sz="950">
                          <a:solidFill>
                            <a:srgbClr val="475569"/>
                          </a:solidFill>
                        </a:defRPr>
                      </a:pPr>
                      <a:r>
                        <a:t>92.75%</a:t>
                      </a:r>
                    </a:p>
                  </a:txBody>
                  <a:tcPr>
                    <a:solidFill>
                      <a:srgbClr val="F8FAFC"/>
                    </a:solidFill>
                  </a:tcPr>
                </a:tc>
                <a:tc>
                  <a:txBody>
                    <a:bodyPr/>
                    <a:lstStyle/>
                    <a:p>
                      <a:pPr>
                        <a:defRPr sz="950">
                          <a:solidFill>
                            <a:srgbClr val="475569"/>
                          </a:solidFill>
                        </a:defRPr>
                      </a:pPr>
                      <a:r>
                        <a:t>Baseline</a:t>
                      </a:r>
                    </a:p>
                  </a:txBody>
                  <a:tcPr>
                    <a:solidFill>
                      <a:srgbClr val="F8FAFC"/>
                    </a:solidFill>
                  </a:tcPr>
                </a:tc>
              </a:tr>
              <a:tr h="548640">
                <a:tc>
                  <a:txBody>
                    <a:bodyPr/>
                    <a:lstStyle/>
                    <a:p>
                      <a:pPr>
                        <a:defRPr sz="950" b="1">
                          <a:solidFill>
                            <a:srgbClr val="475569"/>
                          </a:solidFill>
                        </a:defRPr>
                      </a:pPr>
                      <a:r>
                        <a:t>EXP_B</a:t>
                      </a:r>
                    </a:p>
                  </a:txBody>
                  <a:tcPr>
                    <a:solidFill>
                      <a:srgbClr val="FFFFFF"/>
                    </a:solidFill>
                  </a:tcPr>
                </a:tc>
                <a:tc>
                  <a:txBody>
                    <a:bodyPr/>
                    <a:lstStyle/>
                    <a:p>
                      <a:pPr>
                        <a:defRPr sz="950">
                          <a:solidFill>
                            <a:srgbClr val="475569"/>
                          </a:solidFill>
                        </a:defRPr>
                      </a:pPr>
                      <a:r>
                        <a:t>Landmark Augmentation (Jitter, Scale, Drop)</a:t>
                      </a:r>
                    </a:p>
                  </a:txBody>
                  <a:tcPr>
                    <a:solidFill>
                      <a:srgbClr val="FFFFFF"/>
                    </a:solidFill>
                  </a:tcPr>
                </a:tc>
                <a:tc>
                  <a:txBody>
                    <a:bodyPr/>
                    <a:lstStyle/>
                    <a:p>
                      <a:pPr>
                        <a:defRPr sz="950">
                          <a:solidFill>
                            <a:srgbClr val="475569"/>
                          </a:solidFill>
                        </a:defRPr>
                      </a:pPr>
                      <a:r>
                        <a:t>85.24%</a:t>
                      </a:r>
                    </a:p>
                  </a:txBody>
                  <a:tcPr>
                    <a:solidFill>
                      <a:srgbClr val="FFFFFF"/>
                    </a:solidFill>
                  </a:tcPr>
                </a:tc>
                <a:tc>
                  <a:txBody>
                    <a:bodyPr/>
                    <a:lstStyle/>
                    <a:p>
                      <a:pPr>
                        <a:defRPr sz="950">
                          <a:solidFill>
                            <a:srgbClr val="475569"/>
                          </a:solidFill>
                        </a:defRPr>
                      </a:pPr>
                      <a:r>
                        <a:t>69.40%</a:t>
                      </a:r>
                    </a:p>
                  </a:txBody>
                  <a:tcPr>
                    <a:solidFill>
                      <a:srgbClr val="FFFFFF"/>
                    </a:solidFill>
                  </a:tcPr>
                </a:tc>
                <a:tc>
                  <a:txBody>
                    <a:bodyPr/>
                    <a:lstStyle/>
                    <a:p>
                      <a:pPr>
                        <a:defRPr sz="950">
                          <a:solidFill>
                            <a:srgbClr val="475569"/>
                          </a:solidFill>
                        </a:defRPr>
                      </a:pPr>
                      <a:r>
                        <a:t>79.30%</a:t>
                      </a:r>
                    </a:p>
                  </a:txBody>
                  <a:tcPr>
                    <a:solidFill>
                      <a:srgbClr val="FFFFFF"/>
                    </a:solidFill>
                  </a:tcPr>
                </a:tc>
                <a:tc>
                  <a:txBody>
                    <a:bodyPr/>
                    <a:lstStyle/>
                    <a:p>
                      <a:pPr>
                        <a:defRPr sz="950">
                          <a:solidFill>
                            <a:srgbClr val="475569"/>
                          </a:solidFill>
                        </a:defRPr>
                      </a:pPr>
                      <a:r>
                        <a:t>92.13%</a:t>
                      </a:r>
                    </a:p>
                  </a:txBody>
                  <a:tcPr>
                    <a:solidFill>
                      <a:srgbClr val="FFFFFF"/>
                    </a:solidFill>
                  </a:tcPr>
                </a:tc>
                <a:tc>
                  <a:txBody>
                    <a:bodyPr/>
                    <a:lstStyle/>
                    <a:p>
                      <a:pPr>
                        <a:defRPr sz="950">
                          <a:solidFill>
                            <a:srgbClr val="475569"/>
                          </a:solidFill>
                        </a:defRPr>
                      </a:pPr>
                      <a:r>
                        <a:t>Generalization</a:t>
                      </a:r>
                    </a:p>
                  </a:txBody>
                  <a:tcPr>
                    <a:solidFill>
                      <a:srgbClr val="FFFFFF"/>
                    </a:solidFill>
                  </a:tcPr>
                </a:tc>
              </a:tr>
              <a:tr h="548640">
                <a:tc>
                  <a:txBody>
                    <a:bodyPr/>
                    <a:lstStyle/>
                    <a:p>
                      <a:pPr>
                        <a:defRPr sz="950" b="1">
                          <a:solidFill>
                            <a:srgbClr val="475569"/>
                          </a:solidFill>
                        </a:defRPr>
                      </a:pPr>
                      <a:r>
                        <a:t>EXP_C</a:t>
                      </a:r>
                    </a:p>
                  </a:txBody>
                  <a:tcPr>
                    <a:solidFill>
                      <a:srgbClr val="F8FAFC"/>
                    </a:solidFill>
                  </a:tcPr>
                </a:tc>
                <a:tc>
                  <a:txBody>
                    <a:bodyPr/>
                    <a:lstStyle/>
                    <a:p>
                      <a:pPr>
                        <a:defRPr sz="950">
                          <a:solidFill>
                            <a:srgbClr val="475569"/>
                          </a:solidFill>
                        </a:defRPr>
                      </a:pPr>
                      <a:r>
                        <a:t>Class-Weighted Smooth Inverse Sqrt Loss</a:t>
                      </a:r>
                    </a:p>
                  </a:txBody>
                  <a:tcPr>
                    <a:solidFill>
                      <a:srgbClr val="F8FAFC"/>
                    </a:solidFill>
                  </a:tcPr>
                </a:tc>
                <a:tc>
                  <a:txBody>
                    <a:bodyPr/>
                    <a:lstStyle/>
                    <a:p>
                      <a:pPr>
                        <a:defRPr sz="950">
                          <a:solidFill>
                            <a:srgbClr val="475569"/>
                          </a:solidFill>
                        </a:defRPr>
                      </a:pPr>
                      <a:r>
                        <a:t>85.24%</a:t>
                      </a:r>
                    </a:p>
                  </a:txBody>
                  <a:tcPr>
                    <a:solidFill>
                      <a:srgbClr val="F8FAFC"/>
                    </a:solidFill>
                  </a:tcPr>
                </a:tc>
                <a:tc>
                  <a:txBody>
                    <a:bodyPr/>
                    <a:lstStyle/>
                    <a:p>
                      <a:pPr>
                        <a:defRPr sz="950">
                          <a:solidFill>
                            <a:srgbClr val="475569"/>
                          </a:solidFill>
                        </a:defRPr>
                      </a:pPr>
                      <a:r>
                        <a:t>74.18%</a:t>
                      </a:r>
                    </a:p>
                  </a:txBody>
                  <a:tcPr>
                    <a:solidFill>
                      <a:srgbClr val="F8FAFC"/>
                    </a:solidFill>
                  </a:tcPr>
                </a:tc>
                <a:tc>
                  <a:txBody>
                    <a:bodyPr/>
                    <a:lstStyle/>
                    <a:p>
                      <a:pPr>
                        <a:defRPr sz="950">
                          <a:solidFill>
                            <a:srgbClr val="475569"/>
                          </a:solidFill>
                        </a:defRPr>
                      </a:pPr>
                      <a:r>
                        <a:t>80.33%</a:t>
                      </a:r>
                    </a:p>
                  </a:txBody>
                  <a:tcPr>
                    <a:solidFill>
                      <a:srgbClr val="F8FAFC"/>
                    </a:solidFill>
                  </a:tcPr>
                </a:tc>
                <a:tc>
                  <a:txBody>
                    <a:bodyPr/>
                    <a:lstStyle/>
                    <a:p>
                      <a:pPr>
                        <a:defRPr sz="950">
                          <a:solidFill>
                            <a:srgbClr val="475569"/>
                          </a:solidFill>
                        </a:defRPr>
                      </a:pPr>
                      <a:r>
                        <a:t>92.55%</a:t>
                      </a:r>
                    </a:p>
                  </a:txBody>
                  <a:tcPr>
                    <a:solidFill>
                      <a:srgbClr val="F8FAFC"/>
                    </a:solidFill>
                  </a:tcPr>
                </a:tc>
                <a:tc>
                  <a:txBody>
                    <a:bodyPr/>
                    <a:lstStyle/>
                    <a:p>
                      <a:pPr>
                        <a:defRPr sz="950">
                          <a:solidFill>
                            <a:srgbClr val="475569"/>
                          </a:solidFill>
                        </a:defRPr>
                      </a:pPr>
                      <a:r>
                        <a:t>Rare Class Fix</a:t>
                      </a:r>
                    </a:p>
                  </a:txBody>
                  <a:tcPr>
                    <a:solidFill>
                      <a:srgbClr val="F8FAFC"/>
                    </a:solidFill>
                  </a:tcPr>
                </a:tc>
              </a:tr>
              <a:tr h="548640">
                <a:tc>
                  <a:txBody>
                    <a:bodyPr/>
                    <a:lstStyle/>
                    <a:p>
                      <a:pPr>
                        <a:defRPr sz="950" b="1">
                          <a:solidFill>
                            <a:srgbClr val="475569"/>
                          </a:solidFill>
                        </a:defRPr>
                      </a:pPr>
                      <a:r>
                        <a:t>EXP_D</a:t>
                      </a:r>
                    </a:p>
                  </a:txBody>
                  <a:tcPr>
                    <a:solidFill>
                      <a:srgbClr val="FFFFFF"/>
                    </a:solidFill>
                  </a:tcPr>
                </a:tc>
                <a:tc>
                  <a:txBody>
                    <a:bodyPr/>
                    <a:lstStyle/>
                    <a:p>
                      <a:pPr>
                        <a:defRPr sz="950">
                          <a:solidFill>
                            <a:srgbClr val="475569"/>
                          </a:solidFill>
                        </a:defRPr>
                      </a:pPr>
                      <a:r>
                        <a:t>Motion Dynamics Weighting (V-emphasis)</a:t>
                      </a:r>
                    </a:p>
                  </a:txBody>
                  <a:tcPr>
                    <a:solidFill>
                      <a:srgbClr val="FFFFFF"/>
                    </a:solidFill>
                  </a:tcPr>
                </a:tc>
                <a:tc>
                  <a:txBody>
                    <a:bodyPr/>
                    <a:lstStyle/>
                    <a:p>
                      <a:pPr>
                        <a:defRPr sz="950">
                          <a:solidFill>
                            <a:srgbClr val="475569"/>
                          </a:solidFill>
                        </a:defRPr>
                      </a:pPr>
                      <a:r>
                        <a:t>82.82%</a:t>
                      </a:r>
                    </a:p>
                  </a:txBody>
                  <a:tcPr>
                    <a:solidFill>
                      <a:srgbClr val="FFFFFF"/>
                    </a:solidFill>
                  </a:tcPr>
                </a:tc>
                <a:tc>
                  <a:txBody>
                    <a:bodyPr/>
                    <a:lstStyle/>
                    <a:p>
                      <a:pPr>
                        <a:defRPr sz="950">
                          <a:solidFill>
                            <a:srgbClr val="475569"/>
                          </a:solidFill>
                        </a:defRPr>
                      </a:pPr>
                      <a:r>
                        <a:t>67.47%</a:t>
                      </a:r>
                    </a:p>
                  </a:txBody>
                  <a:tcPr>
                    <a:solidFill>
                      <a:srgbClr val="FFFFFF"/>
                    </a:solidFill>
                  </a:tcPr>
                </a:tc>
                <a:tc>
                  <a:txBody>
                    <a:bodyPr/>
                    <a:lstStyle/>
                    <a:p>
                      <a:pPr>
                        <a:defRPr sz="950">
                          <a:solidFill>
                            <a:srgbClr val="475569"/>
                          </a:solidFill>
                        </a:defRPr>
                      </a:pPr>
                      <a:r>
                        <a:t>77.64%</a:t>
                      </a:r>
                    </a:p>
                  </a:txBody>
                  <a:tcPr>
                    <a:solidFill>
                      <a:srgbClr val="FFFFFF"/>
                    </a:solidFill>
                  </a:tcPr>
                </a:tc>
                <a:tc>
                  <a:txBody>
                    <a:bodyPr/>
                    <a:lstStyle/>
                    <a:p>
                      <a:pPr>
                        <a:defRPr sz="950">
                          <a:solidFill>
                            <a:srgbClr val="475569"/>
                          </a:solidFill>
                        </a:defRPr>
                      </a:pPr>
                      <a:r>
                        <a:t>92.34%</a:t>
                      </a:r>
                    </a:p>
                  </a:txBody>
                  <a:tcPr>
                    <a:solidFill>
                      <a:srgbClr val="FFFFFF"/>
                    </a:solidFill>
                  </a:tcPr>
                </a:tc>
                <a:tc>
                  <a:txBody>
                    <a:bodyPr/>
                    <a:lstStyle/>
                    <a:p>
                      <a:pPr>
                        <a:defRPr sz="950">
                          <a:solidFill>
                            <a:srgbClr val="475569"/>
                          </a:solidFill>
                        </a:defRPr>
                      </a:pPr>
                      <a:r>
                        <a:t>Over-emphasized</a:t>
                      </a:r>
                    </a:p>
                  </a:txBody>
                  <a:tcPr>
                    <a:solidFill>
                      <a:srgbClr val="FFFFFF"/>
                    </a:solidFill>
                  </a:tcPr>
                </a:tc>
              </a:tr>
              <a:tr h="548640">
                <a:tc>
                  <a:txBody>
                    <a:bodyPr/>
                    <a:lstStyle/>
                    <a:p>
                      <a:pPr>
                        <a:defRPr sz="950" b="1">
                          <a:solidFill>
                            <a:srgbClr val="475569"/>
                          </a:solidFill>
                        </a:defRPr>
                      </a:pPr>
                      <a:r>
                        <a:t>EXP_E</a:t>
                      </a:r>
                    </a:p>
                  </a:txBody>
                  <a:tcPr>
                    <a:solidFill>
                      <a:srgbClr val="F8FAFC"/>
                    </a:solidFill>
                  </a:tcPr>
                </a:tc>
                <a:tc>
                  <a:txBody>
                    <a:bodyPr/>
                    <a:lstStyle/>
                    <a:p>
                      <a:pPr>
                        <a:defRPr sz="950">
                          <a:solidFill>
                            <a:srgbClr val="475569"/>
                          </a:solidFill>
                        </a:defRPr>
                      </a:pPr>
                      <a:r>
                        <a:t>Learning Rate Tuning (3 x 10^-4 Cosine)</a:t>
                      </a:r>
                    </a:p>
                  </a:txBody>
                  <a:tcPr>
                    <a:solidFill>
                      <a:srgbClr val="F8FAFC"/>
                    </a:solidFill>
                  </a:tcPr>
                </a:tc>
                <a:tc>
                  <a:txBody>
                    <a:bodyPr/>
                    <a:lstStyle/>
                    <a:p>
                      <a:pPr>
                        <a:defRPr sz="950">
                          <a:solidFill>
                            <a:srgbClr val="475569"/>
                          </a:solidFill>
                        </a:defRPr>
                      </a:pPr>
                      <a:r>
                        <a:t>84.58%</a:t>
                      </a:r>
                    </a:p>
                  </a:txBody>
                  <a:tcPr>
                    <a:solidFill>
                      <a:srgbClr val="F8FAFC"/>
                    </a:solidFill>
                  </a:tcPr>
                </a:tc>
                <a:tc>
                  <a:txBody>
                    <a:bodyPr/>
                    <a:lstStyle/>
                    <a:p>
                      <a:pPr>
                        <a:defRPr sz="950">
                          <a:solidFill>
                            <a:srgbClr val="475569"/>
                          </a:solidFill>
                        </a:defRPr>
                      </a:pPr>
                      <a:r>
                        <a:t>71.71%</a:t>
                      </a:r>
                    </a:p>
                  </a:txBody>
                  <a:tcPr>
                    <a:solidFill>
                      <a:srgbClr val="F8FAFC"/>
                    </a:solidFill>
                  </a:tcPr>
                </a:tc>
                <a:tc>
                  <a:txBody>
                    <a:bodyPr/>
                    <a:lstStyle/>
                    <a:p>
                      <a:pPr>
                        <a:defRPr sz="950">
                          <a:solidFill>
                            <a:srgbClr val="475569"/>
                          </a:solidFill>
                        </a:defRPr>
                      </a:pPr>
                      <a:r>
                        <a:t>80.33%</a:t>
                      </a:r>
                    </a:p>
                  </a:txBody>
                  <a:tcPr>
                    <a:solidFill>
                      <a:srgbClr val="F8FAFC"/>
                    </a:solidFill>
                  </a:tcPr>
                </a:tc>
                <a:tc>
                  <a:txBody>
                    <a:bodyPr/>
                    <a:lstStyle/>
                    <a:p>
                      <a:pPr>
                        <a:defRPr sz="950">
                          <a:solidFill>
                            <a:srgbClr val="475569"/>
                          </a:solidFill>
                        </a:defRPr>
                      </a:pPr>
                      <a:r>
                        <a:t>91.51%</a:t>
                      </a:r>
                    </a:p>
                  </a:txBody>
                  <a:tcPr>
                    <a:solidFill>
                      <a:srgbClr val="F8FAFC"/>
                    </a:solidFill>
                  </a:tcPr>
                </a:tc>
                <a:tc>
                  <a:txBody>
                    <a:bodyPr/>
                    <a:lstStyle/>
                    <a:p>
                      <a:pPr>
                        <a:defRPr sz="950">
                          <a:solidFill>
                            <a:srgbClr val="475569"/>
                          </a:solidFill>
                        </a:defRPr>
                      </a:pPr>
                      <a:r>
                        <a:t>Slight Overshoot</a:t>
                      </a:r>
                    </a:p>
                  </a:txBody>
                  <a:tcPr>
                    <a:solidFill>
                      <a:srgbClr val="F8FAFC"/>
                    </a:solidFill>
                  </a:tcPr>
                </a:tc>
              </a:tr>
              <a:tr h="548640">
                <a:tc>
                  <a:txBody>
                    <a:bodyPr/>
                    <a:lstStyle/>
                    <a:p>
                      <a:pPr>
                        <a:defRPr sz="950" b="1">
                          <a:solidFill>
                            <a:srgbClr val="475569"/>
                          </a:solidFill>
                        </a:defRPr>
                      </a:pPr>
                      <a:r>
                        <a:t>EXP_F</a:t>
                      </a:r>
                    </a:p>
                  </a:txBody>
                  <a:tcPr>
                    <a:solidFill>
                      <a:srgbClr val="FFFFFF"/>
                    </a:solidFill>
                  </a:tcPr>
                </a:tc>
                <a:tc>
                  <a:txBody>
                    <a:bodyPr/>
                    <a:lstStyle/>
                    <a:p>
                      <a:pPr>
                        <a:defRPr sz="950">
                          <a:solidFill>
                            <a:srgbClr val="475569"/>
                          </a:solidFill>
                        </a:defRPr>
                      </a:pPr>
                      <a:r>
                        <a:t>Regularization (Dropout 0.20)</a:t>
                      </a:r>
                    </a:p>
                  </a:txBody>
                  <a:tcPr>
                    <a:solidFill>
                      <a:srgbClr val="FFFFFF"/>
                    </a:solidFill>
                  </a:tcPr>
                </a:tc>
                <a:tc>
                  <a:txBody>
                    <a:bodyPr/>
                    <a:lstStyle/>
                    <a:p>
                      <a:pPr>
                        <a:defRPr sz="950">
                          <a:solidFill>
                            <a:srgbClr val="475569"/>
                          </a:solidFill>
                        </a:defRPr>
                      </a:pPr>
                      <a:r>
                        <a:t>85.24%</a:t>
                      </a:r>
                    </a:p>
                  </a:txBody>
                  <a:tcPr>
                    <a:solidFill>
                      <a:srgbClr val="FFFFFF"/>
                    </a:solidFill>
                  </a:tcPr>
                </a:tc>
                <a:tc>
                  <a:txBody>
                    <a:bodyPr/>
                    <a:lstStyle/>
                    <a:p>
                      <a:pPr>
                        <a:defRPr sz="950">
                          <a:solidFill>
                            <a:srgbClr val="475569"/>
                          </a:solidFill>
                        </a:defRPr>
                      </a:pPr>
                      <a:r>
                        <a:t>75.08%</a:t>
                      </a:r>
                    </a:p>
                  </a:txBody>
                  <a:tcPr>
                    <a:solidFill>
                      <a:srgbClr val="FFFFFF"/>
                    </a:solidFill>
                  </a:tcPr>
                </a:tc>
                <a:tc>
                  <a:txBody>
                    <a:bodyPr/>
                    <a:lstStyle/>
                    <a:p>
                      <a:pPr>
                        <a:defRPr sz="950">
                          <a:solidFill>
                            <a:srgbClr val="475569"/>
                          </a:solidFill>
                        </a:defRPr>
                      </a:pPr>
                      <a:r>
                        <a:t>80.33%</a:t>
                      </a:r>
                    </a:p>
                  </a:txBody>
                  <a:tcPr>
                    <a:solidFill>
                      <a:srgbClr val="FFFFFF"/>
                    </a:solidFill>
                  </a:tcPr>
                </a:tc>
                <a:tc>
                  <a:txBody>
                    <a:bodyPr/>
                    <a:lstStyle/>
                    <a:p>
                      <a:pPr>
                        <a:defRPr sz="950">
                          <a:solidFill>
                            <a:srgbClr val="475569"/>
                          </a:solidFill>
                        </a:defRPr>
                      </a:pPr>
                      <a:r>
                        <a:t>92.96%</a:t>
                      </a:r>
                    </a:p>
                  </a:txBody>
                  <a:tcPr>
                    <a:solidFill>
                      <a:srgbClr val="FFFFFF"/>
                    </a:solidFill>
                  </a:tcPr>
                </a:tc>
                <a:tc>
                  <a:txBody>
                    <a:bodyPr/>
                    <a:lstStyle/>
                    <a:p>
                      <a:pPr>
                        <a:defRPr sz="950">
                          <a:solidFill>
                            <a:srgbClr val="475569"/>
                          </a:solidFill>
                        </a:defRPr>
                      </a:pPr>
                      <a:r>
                        <a:t>Stabilized</a:t>
                      </a:r>
                    </a:p>
                  </a:txBody>
                  <a:tcPr>
                    <a:solidFill>
                      <a:srgbClr val="FFFFFF"/>
                    </a:solidFill>
                  </a:tcPr>
                </a:tc>
              </a:tr>
              <a:tr h="548640">
                <a:tc>
                  <a:txBody>
                    <a:bodyPr/>
                    <a:lstStyle/>
                    <a:p>
                      <a:pPr>
                        <a:defRPr sz="950" b="1">
                          <a:solidFill>
                            <a:srgbClr val="1E3A8A"/>
                          </a:solidFill>
                        </a:defRPr>
                      </a:pPr>
                      <a:r>
                        <a:t>EXP_G</a:t>
                      </a:r>
                    </a:p>
                  </a:txBody>
                  <a:tcPr>
                    <a:solidFill>
                      <a:srgbClr val="EEF2FF"/>
                    </a:solidFill>
                  </a:tcPr>
                </a:tc>
                <a:tc>
                  <a:txBody>
                    <a:bodyPr/>
                    <a:lstStyle/>
                    <a:p>
                      <a:pPr>
                        <a:defRPr sz="950" b="1">
                          <a:solidFill>
                            <a:srgbClr val="1E3A8A"/>
                          </a:solidFill>
                        </a:defRPr>
                      </a:pPr>
                      <a:r>
                        <a:t>Combined Optimal (Aug + Weights + Motion)</a:t>
                      </a:r>
                    </a:p>
                  </a:txBody>
                  <a:tcPr>
                    <a:solidFill>
                      <a:srgbClr val="EEF2FF"/>
                    </a:solidFill>
                  </a:tcPr>
                </a:tc>
                <a:tc>
                  <a:txBody>
                    <a:bodyPr/>
                    <a:lstStyle/>
                    <a:p>
                      <a:pPr>
                        <a:defRPr sz="950" b="1">
                          <a:solidFill>
                            <a:srgbClr val="1E3A8A"/>
                          </a:solidFill>
                        </a:defRPr>
                      </a:pPr>
                      <a:r>
                        <a:t>89.21%</a:t>
                      </a:r>
                    </a:p>
                  </a:txBody>
                  <a:tcPr>
                    <a:solidFill>
                      <a:srgbClr val="EEF2FF"/>
                    </a:solidFill>
                  </a:tcPr>
                </a:tc>
                <a:tc>
                  <a:txBody>
                    <a:bodyPr/>
                    <a:lstStyle/>
                    <a:p>
                      <a:pPr>
                        <a:defRPr sz="950" b="1">
                          <a:solidFill>
                            <a:srgbClr val="1E3A8A"/>
                          </a:solidFill>
                        </a:defRPr>
                      </a:pPr>
                      <a:r>
                        <a:t>78.89%</a:t>
                      </a:r>
                    </a:p>
                  </a:txBody>
                  <a:tcPr>
                    <a:solidFill>
                      <a:srgbClr val="EEF2FF"/>
                    </a:solidFill>
                  </a:tcPr>
                </a:tc>
                <a:tc>
                  <a:txBody>
                    <a:bodyPr/>
                    <a:lstStyle/>
                    <a:p>
                      <a:pPr>
                        <a:defRPr sz="950" b="1">
                          <a:solidFill>
                            <a:srgbClr val="1E3A8A"/>
                          </a:solidFill>
                        </a:defRPr>
                      </a:pPr>
                      <a:r>
                        <a:t>84.06%</a:t>
                      </a:r>
                    </a:p>
                  </a:txBody>
                  <a:tcPr>
                    <a:solidFill>
                      <a:srgbClr val="EEF2FF"/>
                    </a:solidFill>
                  </a:tcPr>
                </a:tc>
                <a:tc>
                  <a:txBody>
                    <a:bodyPr/>
                    <a:lstStyle/>
                    <a:p>
                      <a:pPr>
                        <a:defRPr sz="950" b="1">
                          <a:solidFill>
                            <a:srgbClr val="1E3A8A"/>
                          </a:solidFill>
                        </a:defRPr>
                      </a:pPr>
                      <a:r>
                        <a:t>92.75%</a:t>
                      </a:r>
                    </a:p>
                  </a:txBody>
                  <a:tcPr>
                    <a:solidFill>
                      <a:srgbClr val="EEF2FF"/>
                    </a:solidFill>
                  </a:tcPr>
                </a:tc>
                <a:tc>
                  <a:txBody>
                    <a:bodyPr/>
                    <a:lstStyle/>
                    <a:p>
                      <a:pPr>
                        <a:defRPr sz="950" b="1">
                          <a:solidFill>
                            <a:srgbClr val="1E3A8A"/>
                          </a:solidFill>
                        </a:defRPr>
                      </a:pPr>
                      <a:r>
                        <a:t>SELECTED SOTA</a:t>
                      </a:r>
                    </a:p>
                  </a:txBody>
                  <a:tcPr>
                    <a:solidFill>
                      <a:srgbClr val="EEF2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RUBRIC CRITERIA 3</a:t>
            </a:r>
          </a:p>
          <a:p>
            <a:pPr>
              <a:spcBef>
                <a:spcPts val="400"/>
              </a:spcBef>
              <a:defRPr sz="2200" b="1">
                <a:solidFill>
                  <a:srgbClr val="0F172A"/>
                </a:solidFill>
                <a:latin typeface="Segoe UI"/>
              </a:defRPr>
            </a:pPr>
            <a:r>
              <a:t>Comprehensive Evaluation Results (10 Marks)</a:t>
            </a:r>
          </a:p>
        </p:txBody>
      </p:sp>
      <p:sp>
        <p:nvSpPr>
          <p:cNvPr id="3" name="Rounded Rectangle 2"/>
          <p:cNvSpPr/>
          <p:nvPr/>
        </p:nvSpPr>
        <p:spPr>
          <a:xfrm>
            <a:off x="731520" y="1645920"/>
            <a:ext cx="2468880" cy="1463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050">
                <a:solidFill>
                  <a:srgbClr val="475569"/>
                </a:solidFill>
              </a:defRPr>
            </a:pPr>
            <a:r>
              <a:t>Top-1 Test Accuracy</a:t>
            </a:r>
          </a:p>
          <a:p>
            <a:pPr algn="ctr">
              <a:spcBef>
                <a:spcPts val="200"/>
              </a:spcBef>
              <a:defRPr sz="2400" b="1">
                <a:solidFill>
                  <a:srgbClr val="1E3A8A"/>
                </a:solidFill>
              </a:defRPr>
            </a:pPr>
            <a:r>
              <a:t>83.44%</a:t>
            </a:r>
          </a:p>
          <a:p>
            <a:pPr algn="ctr">
              <a:defRPr sz="850">
                <a:solidFill>
                  <a:srgbClr val="475569"/>
                </a:solidFill>
              </a:defRPr>
            </a:pPr>
            <a:r>
              <a:t>Untouched 483-clip test set</a:t>
            </a:r>
          </a:p>
        </p:txBody>
      </p:sp>
      <p:sp>
        <p:nvSpPr>
          <p:cNvPr id="4" name="Rounded Rectangle 3"/>
          <p:cNvSpPr/>
          <p:nvPr/>
        </p:nvSpPr>
        <p:spPr>
          <a:xfrm>
            <a:off x="3474720" y="1645920"/>
            <a:ext cx="2468880" cy="1463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050">
                <a:solidFill>
                  <a:srgbClr val="475569"/>
                </a:solidFill>
              </a:defRPr>
            </a:pPr>
            <a:r>
              <a:t>Top-3 Candidate Acc</a:t>
            </a:r>
          </a:p>
          <a:p>
            <a:pPr algn="ctr">
              <a:spcBef>
                <a:spcPts val="200"/>
              </a:spcBef>
              <a:defRPr sz="2400" b="1">
                <a:solidFill>
                  <a:srgbClr val="1E3A8A"/>
                </a:solidFill>
              </a:defRPr>
            </a:pPr>
            <a:r>
              <a:t>93.17%</a:t>
            </a:r>
          </a:p>
          <a:p>
            <a:pPr algn="ctr">
              <a:defRPr sz="850">
                <a:solidFill>
                  <a:srgbClr val="475569"/>
                </a:solidFill>
              </a:defRPr>
            </a:pPr>
            <a:r>
              <a:t>Gestural candidate coverage</a:t>
            </a:r>
          </a:p>
        </p:txBody>
      </p:sp>
      <p:sp>
        <p:nvSpPr>
          <p:cNvPr id="5" name="Rounded Rectangle 4"/>
          <p:cNvSpPr/>
          <p:nvPr/>
        </p:nvSpPr>
        <p:spPr>
          <a:xfrm>
            <a:off x="6217920" y="1645920"/>
            <a:ext cx="2468880" cy="1463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050">
                <a:solidFill>
                  <a:srgbClr val="475569"/>
                </a:solidFill>
              </a:defRPr>
            </a:pPr>
            <a:r>
              <a:t>GPU Inference Latency</a:t>
            </a:r>
          </a:p>
          <a:p>
            <a:pPr algn="ctr">
              <a:spcBef>
                <a:spcPts val="200"/>
              </a:spcBef>
              <a:defRPr sz="2400" b="1">
                <a:solidFill>
                  <a:srgbClr val="1E3A8A"/>
                </a:solidFill>
              </a:defRPr>
            </a:pPr>
            <a:r>
              <a:t>0.82 ms</a:t>
            </a:r>
          </a:p>
          <a:p>
            <a:pPr algn="ctr">
              <a:defRPr sz="850">
                <a:solidFill>
                  <a:srgbClr val="475569"/>
                </a:solidFill>
              </a:defRPr>
            </a:pPr>
            <a:r>
              <a:t>1,219.7 FPS throughput</a:t>
            </a:r>
          </a:p>
        </p:txBody>
      </p:sp>
      <p:sp>
        <p:nvSpPr>
          <p:cNvPr id="6" name="Rounded Rectangle 5"/>
          <p:cNvSpPr/>
          <p:nvPr/>
        </p:nvSpPr>
        <p:spPr>
          <a:xfrm>
            <a:off x="8961120" y="1645920"/>
            <a:ext cx="2468880" cy="14630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82880"/>
          <a:lstStyle/>
          <a:p>
            <a:pPr algn="ctr">
              <a:defRPr sz="1050">
                <a:solidFill>
                  <a:srgbClr val="475569"/>
                </a:solidFill>
              </a:defRPr>
            </a:pPr>
            <a:r>
              <a:t>Total Pipeline Latency</a:t>
            </a:r>
          </a:p>
          <a:p>
            <a:pPr algn="ctr">
              <a:spcBef>
                <a:spcPts val="200"/>
              </a:spcBef>
              <a:defRPr sz="2400" b="1">
                <a:solidFill>
                  <a:srgbClr val="1E3A8A"/>
                </a:solidFill>
              </a:defRPr>
            </a:pPr>
            <a:r>
              <a:t>34.2 ms</a:t>
            </a:r>
          </a:p>
          <a:p>
            <a:pPr algn="ctr">
              <a:defRPr sz="850">
                <a:solidFill>
                  <a:srgbClr val="475569"/>
                </a:solidFill>
              </a:defRPr>
            </a:pPr>
            <a:r>
              <a:t>Webcam -&gt; Model -&gt; TTS (29.2 FPS)</a:t>
            </a:r>
          </a:p>
        </p:txBody>
      </p:sp>
      <p:graphicFrame>
        <p:nvGraphicFramePr>
          <p:cNvPr id="7" name="Table 6"/>
          <p:cNvGraphicFramePr>
            <a:graphicFrameLocks noGrp="1"/>
          </p:cNvGraphicFramePr>
          <p:nvPr/>
        </p:nvGraphicFramePr>
        <p:xfrm>
          <a:off x="731520" y="3383280"/>
          <a:ext cx="10698480" cy="2834640"/>
        </p:xfrm>
        <a:graphic>
          <a:graphicData uri="http://schemas.openxmlformats.org/drawingml/2006/table">
            <a:tbl>
              <a:tblPr firstRow="1" bandRow="1">
                <a:tableStyleId>{5C22544A-7EE6-4342-B048-85BDC9FD1C3A}</a:tableStyleId>
              </a:tblPr>
              <a:tblGrid>
                <a:gridCol w="2926080"/>
                <a:gridCol w="2286000"/>
                <a:gridCol w="2926080"/>
                <a:gridCol w="2560320"/>
              </a:tblGrid>
              <a:tr h="566928">
                <a:tc>
                  <a:txBody>
                    <a:bodyPr/>
                    <a:lstStyle/>
                    <a:p>
                      <a:pPr>
                        <a:defRPr b="1" sz="1050">
                          <a:solidFill>
                            <a:srgbClr val="FFFFFF"/>
                          </a:solidFill>
                        </a:defRPr>
                      </a:pPr>
                      <a:r>
                        <a:t>Evaluation Metric</a:t>
                      </a:r>
                    </a:p>
                  </a:txBody>
                  <a:tcPr>
                    <a:solidFill>
                      <a:srgbClr val="1E3A8A"/>
                    </a:solidFill>
                  </a:tcPr>
                </a:tc>
                <a:tc>
                  <a:txBody>
                    <a:bodyPr/>
                    <a:lstStyle/>
                    <a:p>
                      <a:pPr>
                        <a:defRPr b="1" sz="1050">
                          <a:solidFill>
                            <a:srgbClr val="FFFFFF"/>
                          </a:solidFill>
                        </a:defRPr>
                      </a:pPr>
                      <a:r>
                        <a:t>Measured Value</a:t>
                      </a:r>
                    </a:p>
                  </a:txBody>
                  <a:tcPr>
                    <a:solidFill>
                      <a:srgbClr val="1E3A8A"/>
                    </a:solidFill>
                  </a:tcPr>
                </a:tc>
                <a:tc>
                  <a:txBody>
                    <a:bodyPr/>
                    <a:lstStyle/>
                    <a:p>
                      <a:pPr>
                        <a:defRPr b="1" sz="1050">
                          <a:solidFill>
                            <a:srgbClr val="FFFFFF"/>
                          </a:solidFill>
                        </a:defRPr>
                      </a:pPr>
                      <a:r>
                        <a:t>Evaluation Metric</a:t>
                      </a:r>
                    </a:p>
                  </a:txBody>
                  <a:tcPr>
                    <a:solidFill>
                      <a:srgbClr val="1E3A8A"/>
                    </a:solidFill>
                  </a:tcPr>
                </a:tc>
                <a:tc>
                  <a:txBody>
                    <a:bodyPr/>
                    <a:lstStyle/>
                    <a:p>
                      <a:pPr>
                        <a:defRPr b="1" sz="1050">
                          <a:solidFill>
                            <a:srgbClr val="FFFFFF"/>
                          </a:solidFill>
                        </a:defRPr>
                      </a:pPr>
                      <a:r>
                        <a:t>Measured Value</a:t>
                      </a:r>
                    </a:p>
                  </a:txBody>
                  <a:tcPr>
                    <a:solidFill>
                      <a:srgbClr val="1E3A8A"/>
                    </a:solidFill>
                  </a:tcPr>
                </a:tc>
              </a:tr>
              <a:tr h="566928">
                <a:tc>
                  <a:txBody>
                    <a:bodyPr/>
                    <a:lstStyle/>
                    <a:p>
                      <a:pPr>
                        <a:defRPr sz="1000">
                          <a:solidFill>
                            <a:srgbClr val="0F172A"/>
                          </a:solidFill>
                        </a:defRPr>
                      </a:pPr>
                      <a:r>
                        <a:t>Macro Precision</a:t>
                      </a:r>
                    </a:p>
                  </a:txBody>
                  <a:tcPr>
                    <a:solidFill>
                      <a:srgbClr val="F8FAFC"/>
                    </a:solidFill>
                  </a:tcPr>
                </a:tc>
                <a:tc>
                  <a:txBody>
                    <a:bodyPr/>
                    <a:lstStyle/>
                    <a:p>
                      <a:pPr>
                        <a:defRPr sz="1000" b="1">
                          <a:solidFill>
                            <a:srgbClr val="1E3A8A"/>
                          </a:solidFill>
                        </a:defRPr>
                      </a:pPr>
                      <a:r>
                        <a:t>69.23%</a:t>
                      </a:r>
                    </a:p>
                  </a:txBody>
                  <a:tcPr>
                    <a:solidFill>
                      <a:srgbClr val="F8FAFC"/>
                    </a:solidFill>
                  </a:tcPr>
                </a:tc>
                <a:tc>
                  <a:txBody>
                    <a:bodyPr/>
                    <a:lstStyle/>
                    <a:p>
                      <a:pPr>
                        <a:defRPr sz="1000">
                          <a:solidFill>
                            <a:srgbClr val="0F172A"/>
                          </a:solidFill>
                        </a:defRPr>
                      </a:pPr>
                      <a:r>
                        <a:t>Macro Recall</a:t>
                      </a:r>
                    </a:p>
                  </a:txBody>
                  <a:tcPr>
                    <a:solidFill>
                      <a:srgbClr val="F8FAFC"/>
                    </a:solidFill>
                  </a:tcPr>
                </a:tc>
                <a:tc>
                  <a:txBody>
                    <a:bodyPr/>
                    <a:lstStyle/>
                    <a:p>
                      <a:pPr>
                        <a:defRPr sz="1000" b="1">
                          <a:solidFill>
                            <a:srgbClr val="1E3A8A"/>
                          </a:solidFill>
                        </a:defRPr>
                      </a:pPr>
                      <a:r>
                        <a:t>68.90%</a:t>
                      </a:r>
                    </a:p>
                  </a:txBody>
                  <a:tcPr>
                    <a:solidFill>
                      <a:srgbClr val="F8FAFC"/>
                    </a:solidFill>
                  </a:tcPr>
                </a:tc>
              </a:tr>
              <a:tr h="566928">
                <a:tc>
                  <a:txBody>
                    <a:bodyPr/>
                    <a:lstStyle/>
                    <a:p>
                      <a:pPr>
                        <a:defRPr sz="1000">
                          <a:solidFill>
                            <a:srgbClr val="0F172A"/>
                          </a:solidFill>
                        </a:defRPr>
                      </a:pPr>
                      <a:r>
                        <a:t>Macro F1 Score</a:t>
                      </a:r>
                    </a:p>
                  </a:txBody>
                  <a:tcPr>
                    <a:solidFill>
                      <a:srgbClr val="FFFFFF"/>
                    </a:solidFill>
                  </a:tcPr>
                </a:tc>
                <a:tc>
                  <a:txBody>
                    <a:bodyPr/>
                    <a:lstStyle/>
                    <a:p>
                      <a:pPr>
                        <a:defRPr sz="1000" b="1">
                          <a:solidFill>
                            <a:srgbClr val="1E3A8A"/>
                          </a:solidFill>
                        </a:defRPr>
                      </a:pPr>
                      <a:r>
                        <a:t>68.64%</a:t>
                      </a:r>
                    </a:p>
                  </a:txBody>
                  <a:tcPr>
                    <a:solidFill>
                      <a:srgbClr val="FFFFFF"/>
                    </a:solidFill>
                  </a:tcPr>
                </a:tc>
                <a:tc>
                  <a:txBody>
                    <a:bodyPr/>
                    <a:lstStyle/>
                    <a:p>
                      <a:pPr>
                        <a:defRPr sz="1000">
                          <a:solidFill>
                            <a:srgbClr val="0F172A"/>
                          </a:solidFill>
                        </a:defRPr>
                      </a:pPr>
                      <a:r>
                        <a:t>Weighted F1 Score</a:t>
                      </a:r>
                    </a:p>
                  </a:txBody>
                  <a:tcPr>
                    <a:solidFill>
                      <a:srgbClr val="FFFFFF"/>
                    </a:solidFill>
                  </a:tcPr>
                </a:tc>
                <a:tc>
                  <a:txBody>
                    <a:bodyPr/>
                    <a:lstStyle/>
                    <a:p>
                      <a:pPr>
                        <a:defRPr sz="1000" b="1">
                          <a:solidFill>
                            <a:srgbClr val="1E3A8A"/>
                          </a:solidFill>
                        </a:defRPr>
                      </a:pPr>
                      <a:r>
                        <a:t>83.21%</a:t>
                      </a:r>
                    </a:p>
                  </a:txBody>
                  <a:tcPr>
                    <a:solidFill>
                      <a:srgbClr val="FFFFFF"/>
                    </a:solidFill>
                  </a:tcPr>
                </a:tc>
              </a:tr>
              <a:tr h="566928">
                <a:tc>
                  <a:txBody>
                    <a:bodyPr/>
                    <a:lstStyle/>
                    <a:p>
                      <a:pPr>
                        <a:defRPr sz="1000">
                          <a:solidFill>
                            <a:srgbClr val="0F172A"/>
                          </a:solidFill>
                        </a:defRPr>
                      </a:pPr>
                      <a:r>
                        <a:t>Best Validation Accuracy</a:t>
                      </a:r>
                    </a:p>
                  </a:txBody>
                  <a:tcPr>
                    <a:solidFill>
                      <a:srgbClr val="F8FAFC"/>
                    </a:solidFill>
                  </a:tcPr>
                </a:tc>
                <a:tc>
                  <a:txBody>
                    <a:bodyPr/>
                    <a:lstStyle/>
                    <a:p>
                      <a:pPr>
                        <a:defRPr sz="1000" b="1">
                          <a:solidFill>
                            <a:srgbClr val="1E3A8A"/>
                          </a:solidFill>
                        </a:defRPr>
                      </a:pPr>
                      <a:r>
                        <a:t>89.21%</a:t>
                      </a:r>
                    </a:p>
                  </a:txBody>
                  <a:tcPr>
                    <a:solidFill>
                      <a:srgbClr val="F8FAFC"/>
                    </a:solidFill>
                  </a:tcPr>
                </a:tc>
                <a:tc>
                  <a:txBody>
                    <a:bodyPr/>
                    <a:lstStyle/>
                    <a:p>
                      <a:pPr>
                        <a:defRPr sz="1000">
                          <a:solidFill>
                            <a:srgbClr val="0F172A"/>
                          </a:solidFill>
                        </a:defRPr>
                      </a:pPr>
                      <a:r>
                        <a:t>Sanity Overfit Speed</a:t>
                      </a:r>
                    </a:p>
                  </a:txBody>
                  <a:tcPr>
                    <a:solidFill>
                      <a:srgbClr val="F8FAFC"/>
                    </a:solidFill>
                  </a:tcPr>
                </a:tc>
                <a:tc>
                  <a:txBody>
                    <a:bodyPr/>
                    <a:lstStyle/>
                    <a:p>
                      <a:pPr>
                        <a:defRPr sz="1000" b="1">
                          <a:solidFill>
                            <a:srgbClr val="1E3A8A"/>
                          </a:solidFill>
                        </a:defRPr>
                      </a:pPr>
                      <a:r>
                        <a:t>2.35s (95.8% Acc)</a:t>
                      </a:r>
                    </a:p>
                  </a:txBody>
                  <a:tcPr>
                    <a:solidFill>
                      <a:srgbClr val="F8FAFC"/>
                    </a:solidFill>
                  </a:tcPr>
                </a:tc>
              </a:tr>
              <a:tr h="566928">
                <a:tc>
                  <a:txBody>
                    <a:bodyPr/>
                    <a:lstStyle/>
                    <a:p>
                      <a:pPr>
                        <a:defRPr sz="1000">
                          <a:solidFill>
                            <a:srgbClr val="0F172A"/>
                          </a:solidFill>
                        </a:defRPr>
                      </a:pPr>
                      <a:r>
                        <a:t>100% Accuracy Anchor Classes</a:t>
                      </a:r>
                    </a:p>
                  </a:txBody>
                  <a:tcPr>
                    <a:solidFill>
                      <a:srgbClr val="FFFFFF"/>
                    </a:solidFill>
                  </a:tcPr>
                </a:tc>
                <a:tc>
                  <a:txBody>
                    <a:bodyPr/>
                    <a:lstStyle/>
                    <a:p>
                      <a:pPr>
                        <a:defRPr sz="1000" b="1">
                          <a:solidFill>
                            <a:srgbClr val="1E3A8A"/>
                          </a:solidFill>
                        </a:defRPr>
                      </a:pPr>
                      <a:r>
                        <a:t>home, write, okay, school, market, hospital, me</a:t>
                      </a:r>
                    </a:p>
                  </a:txBody>
                  <a:tcPr>
                    <a:solidFill>
                      <a:srgbClr val="FFFFFF"/>
                    </a:solidFill>
                  </a:tcPr>
                </a:tc>
                <a:tc>
                  <a:txBody>
                    <a:bodyPr/>
                    <a:lstStyle/>
                    <a:p>
                      <a:pPr>
                        <a:defRPr sz="1000">
                          <a:solidFill>
                            <a:srgbClr val="0F172A"/>
                          </a:solidFill>
                        </a:defRPr>
                      </a:pPr>
                      <a:r>
                        <a:t>ONNX Parity Error</a:t>
                      </a:r>
                    </a:p>
                  </a:txBody>
                  <a:tcPr>
                    <a:solidFill>
                      <a:srgbClr val="FFFFFF"/>
                    </a:solidFill>
                  </a:tcPr>
                </a:tc>
                <a:tc>
                  <a:txBody>
                    <a:bodyPr/>
                    <a:lstStyle/>
                    <a:p>
                      <a:pPr>
                        <a:defRPr sz="1000" b="1">
                          <a:solidFill>
                            <a:srgbClr val="1E3A8A"/>
                          </a:solidFill>
                        </a:defRPr>
                      </a:pPr>
                      <a:r>
                        <a:t>2.86 x 10^-6 (PASSED)</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COMPETITIVE ANALYSIS</a:t>
            </a:r>
          </a:p>
          <a:p>
            <a:pPr>
              <a:spcBef>
                <a:spcPts val="400"/>
              </a:spcBef>
              <a:defRPr sz="2200" b="1">
                <a:solidFill>
                  <a:srgbClr val="0F172A"/>
                </a:solidFill>
                <a:latin typeface="Segoe UI"/>
              </a:defRPr>
            </a:pPr>
            <a:r>
              <a:t>Baseline Comparative Study</a:t>
            </a:r>
          </a:p>
        </p:txBody>
      </p:sp>
      <p:graphicFrame>
        <p:nvGraphicFramePr>
          <p:cNvPr id="3" name="Table 2"/>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468880"/>
                <a:gridCol w="1371600"/>
                <a:gridCol w="1371600"/>
                <a:gridCol w="1645920"/>
                <a:gridCol w="1645920"/>
                <a:gridCol w="2194560"/>
              </a:tblGrid>
              <a:tr h="627017">
                <a:tc>
                  <a:txBody>
                    <a:bodyPr/>
                    <a:lstStyle/>
                    <a:p>
                      <a:pPr>
                        <a:defRPr b="1" sz="1050">
                          <a:solidFill>
                            <a:srgbClr val="FFFFFF"/>
                          </a:solidFill>
                        </a:defRPr>
                      </a:pPr>
                      <a:r>
                        <a:t>Model Architecture</a:t>
                      </a:r>
                    </a:p>
                  </a:txBody>
                  <a:tcPr>
                    <a:solidFill>
                      <a:srgbClr val="1E3A8A"/>
                    </a:solidFill>
                  </a:tcPr>
                </a:tc>
                <a:tc>
                  <a:txBody>
                    <a:bodyPr/>
                    <a:lstStyle/>
                    <a:p>
                      <a:pPr>
                        <a:defRPr b="1" sz="1050">
                          <a:solidFill>
                            <a:srgbClr val="FFFFFF"/>
                          </a:solidFill>
                        </a:defRPr>
                      </a:pPr>
                      <a:r>
                        <a:t>Parameters</a:t>
                      </a:r>
                    </a:p>
                  </a:txBody>
                  <a:tcPr>
                    <a:solidFill>
                      <a:srgbClr val="1E3A8A"/>
                    </a:solidFill>
                  </a:tcPr>
                </a:tc>
                <a:tc>
                  <a:txBody>
                    <a:bodyPr/>
                    <a:lstStyle/>
                    <a:p>
                      <a:pPr>
                        <a:defRPr b="1" sz="1050">
                          <a:solidFill>
                            <a:srgbClr val="FFFFFF"/>
                          </a:solidFill>
                        </a:defRPr>
                      </a:pPr>
                      <a:r>
                        <a:t>GPU Latency</a:t>
                      </a:r>
                    </a:p>
                  </a:txBody>
                  <a:tcPr>
                    <a:solidFill>
                      <a:srgbClr val="1E3A8A"/>
                    </a:solidFill>
                  </a:tcPr>
                </a:tc>
                <a:tc>
                  <a:txBody>
                    <a:bodyPr/>
                    <a:lstStyle/>
                    <a:p>
                      <a:pPr>
                        <a:defRPr b="1" sz="1050">
                          <a:solidFill>
                            <a:srgbClr val="FFFFFF"/>
                          </a:solidFill>
                        </a:defRPr>
                      </a:pPr>
                      <a:r>
                        <a:t>Top-1 Accuracy</a:t>
                      </a:r>
                    </a:p>
                  </a:txBody>
                  <a:tcPr>
                    <a:solidFill>
                      <a:srgbClr val="1E3A8A"/>
                    </a:solidFill>
                  </a:tcPr>
                </a:tc>
                <a:tc>
                  <a:txBody>
                    <a:bodyPr/>
                    <a:lstStyle/>
                    <a:p>
                      <a:pPr>
                        <a:defRPr b="1" sz="1050">
                          <a:solidFill>
                            <a:srgbClr val="FFFFFF"/>
                          </a:solidFill>
                        </a:defRPr>
                      </a:pPr>
                      <a:r>
                        <a:t>Macro F1 Score</a:t>
                      </a:r>
                    </a:p>
                  </a:txBody>
                  <a:tcPr>
                    <a:solidFill>
                      <a:srgbClr val="1E3A8A"/>
                    </a:solidFill>
                  </a:tcPr>
                </a:tc>
                <a:tc>
                  <a:txBody>
                    <a:bodyPr/>
                    <a:lstStyle/>
                    <a:p>
                      <a:pPr>
                        <a:defRPr b="1" sz="1050">
                          <a:solidFill>
                            <a:srgbClr val="FFFFFF"/>
                          </a:solidFill>
                        </a:defRPr>
                      </a:pPr>
                      <a:r>
                        <a:t>Relative Accuracy Gain</a:t>
                      </a:r>
                    </a:p>
                  </a:txBody>
                  <a:tcPr>
                    <a:solidFill>
                      <a:srgbClr val="1E3A8A"/>
                    </a:solidFill>
                  </a:tcPr>
                </a:tc>
              </a:tr>
              <a:tr h="627017">
                <a:tc>
                  <a:txBody>
                    <a:bodyPr/>
                    <a:lstStyle/>
                    <a:p>
                      <a:pPr>
                        <a:defRPr sz="1000" b="1">
                          <a:solidFill>
                            <a:srgbClr val="475569"/>
                          </a:solidFill>
                        </a:defRPr>
                      </a:pPr>
                      <a:r>
                        <a:t>1D CNN Baseline</a:t>
                      </a:r>
                    </a:p>
                  </a:txBody>
                  <a:tcPr>
                    <a:solidFill>
                      <a:srgbClr val="F8FAFC"/>
                    </a:solidFill>
                  </a:tcPr>
                </a:tc>
                <a:tc>
                  <a:txBody>
                    <a:bodyPr/>
                    <a:lstStyle/>
                    <a:p>
                      <a:pPr>
                        <a:defRPr sz="1000">
                          <a:solidFill>
                            <a:srgbClr val="475569"/>
                          </a:solidFill>
                        </a:defRPr>
                      </a:pPr>
                      <a:r>
                        <a:t>485 K</a:t>
                      </a:r>
                    </a:p>
                  </a:txBody>
                  <a:tcPr>
                    <a:solidFill>
                      <a:srgbClr val="F8FAFC"/>
                    </a:solidFill>
                  </a:tcPr>
                </a:tc>
                <a:tc>
                  <a:txBody>
                    <a:bodyPr/>
                    <a:lstStyle/>
                    <a:p>
                      <a:pPr>
                        <a:defRPr sz="1000">
                          <a:solidFill>
                            <a:srgbClr val="475569"/>
                          </a:solidFill>
                        </a:defRPr>
                      </a:pPr>
                      <a:r>
                        <a:t>0.42 ms</a:t>
                      </a:r>
                    </a:p>
                  </a:txBody>
                  <a:tcPr>
                    <a:solidFill>
                      <a:srgbClr val="F8FAFC"/>
                    </a:solidFill>
                  </a:tcPr>
                </a:tc>
                <a:tc>
                  <a:txBody>
                    <a:bodyPr/>
                    <a:lstStyle/>
                    <a:p>
                      <a:pPr>
                        <a:defRPr sz="1000">
                          <a:solidFill>
                            <a:srgbClr val="475569"/>
                          </a:solidFill>
                        </a:defRPr>
                      </a:pPr>
                      <a:r>
                        <a:t>25.58%</a:t>
                      </a:r>
                    </a:p>
                  </a:txBody>
                  <a:tcPr>
                    <a:solidFill>
                      <a:srgbClr val="F8FAFC"/>
                    </a:solidFill>
                  </a:tcPr>
                </a:tc>
                <a:tc>
                  <a:txBody>
                    <a:bodyPr/>
                    <a:lstStyle/>
                    <a:p>
                      <a:pPr>
                        <a:defRPr sz="1000">
                          <a:solidFill>
                            <a:srgbClr val="475569"/>
                          </a:solidFill>
                        </a:defRPr>
                      </a:pPr>
                      <a:r>
                        <a:t>15.45%</a:t>
                      </a:r>
                    </a:p>
                  </a:txBody>
                  <a:tcPr>
                    <a:solidFill>
                      <a:srgbClr val="F8FAFC"/>
                    </a:solidFill>
                  </a:tcPr>
                </a:tc>
                <a:tc>
                  <a:txBody>
                    <a:bodyPr/>
                    <a:lstStyle/>
                    <a:p>
                      <a:pPr>
                        <a:defRPr sz="1000">
                          <a:solidFill>
                            <a:srgbClr val="475569"/>
                          </a:solidFill>
                        </a:defRPr>
                      </a:pPr>
                      <a:r>
                        <a:t>Baseline</a:t>
                      </a:r>
                    </a:p>
                  </a:txBody>
                  <a:tcPr>
                    <a:solidFill>
                      <a:srgbClr val="F8FAFC"/>
                    </a:solidFill>
                  </a:tcPr>
                </a:tc>
              </a:tr>
              <a:tr h="627017">
                <a:tc>
                  <a:txBody>
                    <a:bodyPr/>
                    <a:lstStyle/>
                    <a:p>
                      <a:pPr>
                        <a:defRPr sz="1000" b="1">
                          <a:solidFill>
                            <a:srgbClr val="475569"/>
                          </a:solidFill>
                        </a:defRPr>
                      </a:pPr>
                      <a:r>
                        <a:t>Bi-LSTM Sequence Model</a:t>
                      </a:r>
                    </a:p>
                  </a:txBody>
                  <a:tcPr>
                    <a:solidFill>
                      <a:srgbClr val="FFFFFF"/>
                    </a:solidFill>
                  </a:tcPr>
                </a:tc>
                <a:tc>
                  <a:txBody>
                    <a:bodyPr/>
                    <a:lstStyle/>
                    <a:p>
                      <a:pPr>
                        <a:defRPr sz="1000">
                          <a:solidFill>
                            <a:srgbClr val="475569"/>
                          </a:solidFill>
                        </a:defRPr>
                      </a:pPr>
                      <a:r>
                        <a:t>2.15 M</a:t>
                      </a:r>
                    </a:p>
                  </a:txBody>
                  <a:tcPr>
                    <a:solidFill>
                      <a:srgbClr val="FFFFFF"/>
                    </a:solidFill>
                  </a:tcPr>
                </a:tc>
                <a:tc>
                  <a:txBody>
                    <a:bodyPr/>
                    <a:lstStyle/>
                    <a:p>
                      <a:pPr>
                        <a:defRPr sz="1000">
                          <a:solidFill>
                            <a:srgbClr val="475569"/>
                          </a:solidFill>
                        </a:defRPr>
                      </a:pPr>
                      <a:r>
                        <a:t>1.84 ms</a:t>
                      </a:r>
                    </a:p>
                  </a:txBody>
                  <a:tcPr>
                    <a:solidFill>
                      <a:srgbClr val="FFFFFF"/>
                    </a:solidFill>
                  </a:tcPr>
                </a:tc>
                <a:tc>
                  <a:txBody>
                    <a:bodyPr/>
                    <a:lstStyle/>
                    <a:p>
                      <a:pPr>
                        <a:defRPr sz="1000">
                          <a:solidFill>
                            <a:srgbClr val="475569"/>
                          </a:solidFill>
                        </a:defRPr>
                      </a:pPr>
                      <a:r>
                        <a:t>24.37%</a:t>
                      </a:r>
                    </a:p>
                  </a:txBody>
                  <a:tcPr>
                    <a:solidFill>
                      <a:srgbClr val="FFFFFF"/>
                    </a:solidFill>
                  </a:tcPr>
                </a:tc>
                <a:tc>
                  <a:txBody>
                    <a:bodyPr/>
                    <a:lstStyle/>
                    <a:p>
                      <a:pPr>
                        <a:defRPr sz="1000">
                          <a:solidFill>
                            <a:srgbClr val="475569"/>
                          </a:solidFill>
                        </a:defRPr>
                      </a:pPr>
                      <a:r>
                        <a:t>13.84%</a:t>
                      </a:r>
                    </a:p>
                  </a:txBody>
                  <a:tcPr>
                    <a:solidFill>
                      <a:srgbClr val="FFFFFF"/>
                    </a:solidFill>
                  </a:tcPr>
                </a:tc>
                <a:tc>
                  <a:txBody>
                    <a:bodyPr/>
                    <a:lstStyle/>
                    <a:p>
                      <a:pPr>
                        <a:defRPr sz="1000">
                          <a:solidFill>
                            <a:srgbClr val="475569"/>
                          </a:solidFill>
                        </a:defRPr>
                      </a:pPr>
                      <a:r>
                        <a:t>-1.21%</a:t>
                      </a:r>
                    </a:p>
                  </a:txBody>
                  <a:tcPr>
                    <a:solidFill>
                      <a:srgbClr val="FFFFFF"/>
                    </a:solidFill>
                  </a:tcPr>
                </a:tc>
              </a:tr>
              <a:tr h="627017">
                <a:tc>
                  <a:txBody>
                    <a:bodyPr/>
                    <a:lstStyle/>
                    <a:p>
                      <a:pPr>
                        <a:defRPr sz="1000" b="1">
                          <a:solidFill>
                            <a:srgbClr val="475569"/>
                          </a:solidFill>
                        </a:defRPr>
                      </a:pPr>
                      <a:r>
                        <a:t>Bi-GRU Sequence Model</a:t>
                      </a:r>
                    </a:p>
                  </a:txBody>
                  <a:tcPr>
                    <a:solidFill>
                      <a:srgbClr val="F8FAFC"/>
                    </a:solidFill>
                  </a:tcPr>
                </a:tc>
                <a:tc>
                  <a:txBody>
                    <a:bodyPr/>
                    <a:lstStyle/>
                    <a:p>
                      <a:pPr>
                        <a:defRPr sz="1000">
                          <a:solidFill>
                            <a:srgbClr val="475569"/>
                          </a:solidFill>
                        </a:defRPr>
                      </a:pPr>
                      <a:r>
                        <a:t>1.62 M</a:t>
                      </a:r>
                    </a:p>
                  </a:txBody>
                  <a:tcPr>
                    <a:solidFill>
                      <a:srgbClr val="F8FAFC"/>
                    </a:solidFill>
                  </a:tcPr>
                </a:tc>
                <a:tc>
                  <a:txBody>
                    <a:bodyPr/>
                    <a:lstStyle/>
                    <a:p>
                      <a:pPr>
                        <a:defRPr sz="1000">
                          <a:solidFill>
                            <a:srgbClr val="475569"/>
                          </a:solidFill>
                        </a:defRPr>
                      </a:pPr>
                      <a:r>
                        <a:t>1.45 ms</a:t>
                      </a:r>
                    </a:p>
                  </a:txBody>
                  <a:tcPr>
                    <a:solidFill>
                      <a:srgbClr val="F8FAFC"/>
                    </a:solidFill>
                  </a:tcPr>
                </a:tc>
                <a:tc>
                  <a:txBody>
                    <a:bodyPr/>
                    <a:lstStyle/>
                    <a:p>
                      <a:pPr>
                        <a:defRPr sz="1000">
                          <a:solidFill>
                            <a:srgbClr val="475569"/>
                          </a:solidFill>
                        </a:defRPr>
                      </a:pPr>
                      <a:r>
                        <a:t>24.57%</a:t>
                      </a:r>
                    </a:p>
                  </a:txBody>
                  <a:tcPr>
                    <a:solidFill>
                      <a:srgbClr val="F8FAFC"/>
                    </a:solidFill>
                  </a:tcPr>
                </a:tc>
                <a:tc>
                  <a:txBody>
                    <a:bodyPr/>
                    <a:lstStyle/>
                    <a:p>
                      <a:pPr>
                        <a:defRPr sz="1000">
                          <a:solidFill>
                            <a:srgbClr val="475569"/>
                          </a:solidFill>
                        </a:defRPr>
                      </a:pPr>
                      <a:r>
                        <a:t>14.65%</a:t>
                      </a:r>
                    </a:p>
                  </a:txBody>
                  <a:tcPr>
                    <a:solidFill>
                      <a:srgbClr val="F8FAFC"/>
                    </a:solidFill>
                  </a:tcPr>
                </a:tc>
                <a:tc>
                  <a:txBody>
                    <a:bodyPr/>
                    <a:lstStyle/>
                    <a:p>
                      <a:pPr>
                        <a:defRPr sz="1000">
                          <a:solidFill>
                            <a:srgbClr val="475569"/>
                          </a:solidFill>
                        </a:defRPr>
                      </a:pPr>
                      <a:r>
                        <a:t>-1.01%</a:t>
                      </a:r>
                    </a:p>
                  </a:txBody>
                  <a:tcPr>
                    <a:solidFill>
                      <a:srgbClr val="F8FAFC"/>
                    </a:solidFill>
                  </a:tcPr>
                </a:tc>
              </a:tr>
              <a:tr h="627017">
                <a:tc>
                  <a:txBody>
                    <a:bodyPr/>
                    <a:lstStyle/>
                    <a:p>
                      <a:pPr>
                        <a:defRPr sz="1000" b="1">
                          <a:solidFill>
                            <a:srgbClr val="475569"/>
                          </a:solidFill>
                        </a:defRPr>
                      </a:pPr>
                      <a:r>
                        <a:t>ST-GCN (Spatial-Temporal GCN)</a:t>
                      </a:r>
                    </a:p>
                  </a:txBody>
                  <a:tcPr>
                    <a:solidFill>
                      <a:srgbClr val="FFFFFF"/>
                    </a:solidFill>
                  </a:tcPr>
                </a:tc>
                <a:tc>
                  <a:txBody>
                    <a:bodyPr/>
                    <a:lstStyle/>
                    <a:p>
                      <a:pPr>
                        <a:defRPr sz="1000">
                          <a:solidFill>
                            <a:srgbClr val="475569"/>
                          </a:solidFill>
                        </a:defRPr>
                      </a:pPr>
                      <a:r>
                        <a:t>1.89 M</a:t>
                      </a:r>
                    </a:p>
                  </a:txBody>
                  <a:tcPr>
                    <a:solidFill>
                      <a:srgbClr val="FFFFFF"/>
                    </a:solidFill>
                  </a:tcPr>
                </a:tc>
                <a:tc>
                  <a:txBody>
                    <a:bodyPr/>
                    <a:lstStyle/>
                    <a:p>
                      <a:pPr>
                        <a:defRPr sz="1000">
                          <a:solidFill>
                            <a:srgbClr val="475569"/>
                          </a:solidFill>
                        </a:defRPr>
                      </a:pPr>
                      <a:r>
                        <a:t>1.12 ms</a:t>
                      </a:r>
                    </a:p>
                  </a:txBody>
                  <a:tcPr>
                    <a:solidFill>
                      <a:srgbClr val="FFFFFF"/>
                    </a:solidFill>
                  </a:tcPr>
                </a:tc>
                <a:tc>
                  <a:txBody>
                    <a:bodyPr/>
                    <a:lstStyle/>
                    <a:p>
                      <a:pPr>
                        <a:defRPr sz="1000">
                          <a:solidFill>
                            <a:srgbClr val="475569"/>
                          </a:solidFill>
                        </a:defRPr>
                      </a:pPr>
                      <a:r>
                        <a:t>26.88%</a:t>
                      </a:r>
                    </a:p>
                  </a:txBody>
                  <a:tcPr>
                    <a:solidFill>
                      <a:srgbClr val="FFFFFF"/>
                    </a:solidFill>
                  </a:tcPr>
                </a:tc>
                <a:tc>
                  <a:txBody>
                    <a:bodyPr/>
                    <a:lstStyle/>
                    <a:p>
                      <a:pPr>
                        <a:defRPr sz="1000">
                          <a:solidFill>
                            <a:srgbClr val="475569"/>
                          </a:solidFill>
                        </a:defRPr>
                      </a:pPr>
                      <a:r>
                        <a:t>18.38%</a:t>
                      </a:r>
                    </a:p>
                  </a:txBody>
                  <a:tcPr>
                    <a:solidFill>
                      <a:srgbClr val="FFFFFF"/>
                    </a:solidFill>
                  </a:tcPr>
                </a:tc>
                <a:tc>
                  <a:txBody>
                    <a:bodyPr/>
                    <a:lstStyle/>
                    <a:p>
                      <a:pPr>
                        <a:defRPr sz="1000">
                          <a:solidFill>
                            <a:srgbClr val="475569"/>
                          </a:solidFill>
                        </a:defRPr>
                      </a:pPr>
                      <a:r>
                        <a:t>+1.30%</a:t>
                      </a:r>
                    </a:p>
                  </a:txBody>
                  <a:tcPr>
                    <a:solidFill>
                      <a:srgbClr val="FFFFFF"/>
                    </a:solidFill>
                  </a:tcPr>
                </a:tc>
              </a:tr>
              <a:tr h="627017">
                <a:tc>
                  <a:txBody>
                    <a:bodyPr/>
                    <a:lstStyle/>
                    <a:p>
                      <a:pPr>
                        <a:defRPr sz="1000" b="1">
                          <a:solidFill>
                            <a:srgbClr val="475569"/>
                          </a:solidFill>
                        </a:defRPr>
                      </a:pPr>
                      <a:r>
                        <a:t>CWA-HWGATE (Legacy Reference)</a:t>
                      </a:r>
                    </a:p>
                  </a:txBody>
                  <a:tcPr>
                    <a:solidFill>
                      <a:srgbClr val="F8FAFC"/>
                    </a:solidFill>
                  </a:tcPr>
                </a:tc>
                <a:tc>
                  <a:txBody>
                    <a:bodyPr/>
                    <a:lstStyle/>
                    <a:p>
                      <a:pPr>
                        <a:defRPr sz="1000">
                          <a:solidFill>
                            <a:srgbClr val="475569"/>
                          </a:solidFill>
                        </a:defRPr>
                      </a:pPr>
                      <a:r>
                        <a:t>948 K</a:t>
                      </a:r>
                    </a:p>
                  </a:txBody>
                  <a:tcPr>
                    <a:solidFill>
                      <a:srgbClr val="F8FAFC"/>
                    </a:solidFill>
                  </a:tcPr>
                </a:tc>
                <a:tc>
                  <a:txBody>
                    <a:bodyPr/>
                    <a:lstStyle/>
                    <a:p>
                      <a:pPr>
                        <a:defRPr sz="1000">
                          <a:solidFill>
                            <a:srgbClr val="475569"/>
                          </a:solidFill>
                        </a:defRPr>
                      </a:pPr>
                      <a:r>
                        <a:t>0.58 ms</a:t>
                      </a:r>
                    </a:p>
                  </a:txBody>
                  <a:tcPr>
                    <a:solidFill>
                      <a:srgbClr val="F8FAFC"/>
                    </a:solidFill>
                  </a:tcPr>
                </a:tc>
                <a:tc>
                  <a:txBody>
                    <a:bodyPr/>
                    <a:lstStyle/>
                    <a:p>
                      <a:pPr>
                        <a:defRPr sz="1000">
                          <a:solidFill>
                            <a:srgbClr val="475569"/>
                          </a:solidFill>
                        </a:defRPr>
                      </a:pPr>
                      <a:r>
                        <a:t>63.55%</a:t>
                      </a:r>
                    </a:p>
                  </a:txBody>
                  <a:tcPr>
                    <a:solidFill>
                      <a:srgbClr val="F8FAFC"/>
                    </a:solidFill>
                  </a:tcPr>
                </a:tc>
                <a:tc>
                  <a:txBody>
                    <a:bodyPr/>
                    <a:lstStyle/>
                    <a:p>
                      <a:pPr>
                        <a:defRPr sz="1000">
                          <a:solidFill>
                            <a:srgbClr val="475569"/>
                          </a:solidFill>
                        </a:defRPr>
                      </a:pPr>
                      <a:r>
                        <a:t>56.61%</a:t>
                      </a:r>
                    </a:p>
                  </a:txBody>
                  <a:tcPr>
                    <a:solidFill>
                      <a:srgbClr val="F8FAFC"/>
                    </a:solidFill>
                  </a:tcPr>
                </a:tc>
                <a:tc>
                  <a:txBody>
                    <a:bodyPr/>
                    <a:lstStyle/>
                    <a:p>
                      <a:pPr>
                        <a:defRPr sz="1000">
                          <a:solidFill>
                            <a:srgbClr val="475569"/>
                          </a:solidFill>
                        </a:defRPr>
                      </a:pPr>
                      <a:r>
                        <a:t>+37.97%</a:t>
                      </a:r>
                    </a:p>
                  </a:txBody>
                  <a:tcPr>
                    <a:solidFill>
                      <a:srgbClr val="F8FAFC"/>
                    </a:solidFill>
                  </a:tcPr>
                </a:tc>
              </a:tr>
              <a:tr h="627018">
                <a:tc>
                  <a:txBody>
                    <a:bodyPr/>
                    <a:lstStyle/>
                    <a:p>
                      <a:pPr>
                        <a:defRPr sz="1000" b="1">
                          <a:solidFill>
                            <a:srgbClr val="1E3A8A"/>
                          </a:solidFill>
                        </a:defRPr>
                      </a:pPr>
                      <a:r>
                        <a:t>AC-HWGATE (Proposed SOTA)</a:t>
                      </a:r>
                    </a:p>
                  </a:txBody>
                  <a:tcPr>
                    <a:solidFill>
                      <a:srgbClr val="EEF2FF"/>
                    </a:solidFill>
                  </a:tcPr>
                </a:tc>
                <a:tc>
                  <a:txBody>
                    <a:bodyPr/>
                    <a:lstStyle/>
                    <a:p>
                      <a:pPr>
                        <a:defRPr sz="1000" b="1">
                          <a:solidFill>
                            <a:srgbClr val="1E3A8A"/>
                          </a:solidFill>
                        </a:defRPr>
                      </a:pPr>
                      <a:r>
                        <a:t>972 K</a:t>
                      </a:r>
                    </a:p>
                  </a:txBody>
                  <a:tcPr>
                    <a:solidFill>
                      <a:srgbClr val="EEF2FF"/>
                    </a:solidFill>
                  </a:tcPr>
                </a:tc>
                <a:tc>
                  <a:txBody>
                    <a:bodyPr/>
                    <a:lstStyle/>
                    <a:p>
                      <a:pPr>
                        <a:defRPr sz="1000" b="1">
                          <a:solidFill>
                            <a:srgbClr val="1E3A8A"/>
                          </a:solidFill>
                        </a:defRPr>
                      </a:pPr>
                      <a:r>
                        <a:t>0.82 ms</a:t>
                      </a:r>
                    </a:p>
                  </a:txBody>
                  <a:tcPr>
                    <a:solidFill>
                      <a:srgbClr val="EEF2FF"/>
                    </a:solidFill>
                  </a:tcPr>
                </a:tc>
                <a:tc>
                  <a:txBody>
                    <a:bodyPr/>
                    <a:lstStyle/>
                    <a:p>
                      <a:pPr>
                        <a:defRPr sz="1000" b="1">
                          <a:solidFill>
                            <a:srgbClr val="1E3A8A"/>
                          </a:solidFill>
                        </a:defRPr>
                      </a:pPr>
                      <a:r>
                        <a:t>83.44%</a:t>
                      </a:r>
                    </a:p>
                  </a:txBody>
                  <a:tcPr>
                    <a:solidFill>
                      <a:srgbClr val="EEF2FF"/>
                    </a:solidFill>
                  </a:tcPr>
                </a:tc>
                <a:tc>
                  <a:txBody>
                    <a:bodyPr/>
                    <a:lstStyle/>
                    <a:p>
                      <a:pPr>
                        <a:defRPr sz="1000" b="1">
                          <a:solidFill>
                            <a:srgbClr val="1E3A8A"/>
                          </a:solidFill>
                        </a:defRPr>
                      </a:pPr>
                      <a:r>
                        <a:t>68.64%</a:t>
                      </a:r>
                    </a:p>
                  </a:txBody>
                  <a:tcPr>
                    <a:solidFill>
                      <a:srgbClr val="EEF2FF"/>
                    </a:solidFill>
                  </a:tcPr>
                </a:tc>
                <a:tc>
                  <a:txBody>
                    <a:bodyPr/>
                    <a:lstStyle/>
                    <a:p>
                      <a:pPr>
                        <a:defRPr sz="1000" b="1">
                          <a:solidFill>
                            <a:srgbClr val="1E3A8A"/>
                          </a:solidFill>
                        </a:defRPr>
                      </a:pPr>
                      <a:r>
                        <a:t>+57.86% (vs CNN)</a:t>
                      </a:r>
                    </a:p>
                  </a:txBody>
                  <a:tcPr>
                    <a:solidFill>
                      <a:srgbClr val="EEF2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FALSE TRIGGER ELIMINATION</a:t>
            </a:r>
          </a:p>
          <a:p>
            <a:pPr>
              <a:spcBef>
                <a:spcPts val="400"/>
              </a:spcBef>
              <a:defRPr sz="2200" b="1">
                <a:solidFill>
                  <a:srgbClr val="0F172A"/>
                </a:solidFill>
                <a:latin typeface="Segoe UI"/>
              </a:defRPr>
            </a:pPr>
            <a:r>
              <a:t>Multi-Signal Unknown Rejection &amp; Live Stability</a:t>
            </a:r>
          </a:p>
        </p:txBody>
      </p:sp>
      <p:sp>
        <p:nvSpPr>
          <p:cNvPr id="3" name="Rounded Rectangle 2"/>
          <p:cNvSpPr/>
          <p:nvPr/>
        </p:nvSpPr>
        <p:spPr>
          <a:xfrm>
            <a:off x="731520" y="1645920"/>
            <a:ext cx="5212080" cy="2103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300">
                <a:solidFill>
                  <a:srgbClr val="1E3A8A"/>
                </a:solidFill>
              </a:defRPr>
            </a:pPr>
            <a:r>
              <a:t>Gate 1: Hand Quality Gate</a:t>
            </a:r>
          </a:p>
          <a:p>
            <a:pPr>
              <a:defRPr sz="1100">
                <a:solidFill>
                  <a:srgbClr val="475569"/>
                </a:solidFill>
              </a:defRPr>
            </a:pPr>
            <a:r>
              <a:t>Rejects frames with &lt; 4 hand keypoints or mean visibility &lt; 0.10.</a:t>
            </a:r>
            <a:br/>
            <a:r>
              <a:t>Rejection: 100% on zero-hand frames.</a:t>
            </a:r>
          </a:p>
        </p:txBody>
      </p:sp>
      <p:sp>
        <p:nvSpPr>
          <p:cNvPr id="4" name="Rounded Rectangle 3"/>
          <p:cNvSpPr/>
          <p:nvPr/>
        </p:nvSpPr>
        <p:spPr>
          <a:xfrm>
            <a:off x="6217920" y="1645920"/>
            <a:ext cx="5212080" cy="2103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300">
                <a:solidFill>
                  <a:srgbClr val="1E3A8A"/>
                </a:solidFill>
              </a:defRPr>
            </a:pPr>
            <a:r>
              <a:t>Gate 2: Motion Energy Gate</a:t>
            </a:r>
          </a:p>
          <a:p>
            <a:pPr>
              <a:defRPr sz="1100">
                <a:solidFill>
                  <a:srgbClr val="475569"/>
                </a:solidFill>
              </a:defRPr>
            </a:pPr>
            <a:r>
              <a:t>Calculates velocity variance σ_v = √(Var(V)). Rejects idle static resting hands (σ_v &lt; 0.0005).</a:t>
            </a:r>
            <a:br/>
            <a:r>
              <a:t>Rejection: 100% on idle static postures.</a:t>
            </a:r>
          </a:p>
        </p:txBody>
      </p:sp>
      <p:sp>
        <p:nvSpPr>
          <p:cNvPr id="5" name="Rounded Rectangle 4"/>
          <p:cNvSpPr/>
          <p:nvPr/>
        </p:nvSpPr>
        <p:spPr>
          <a:xfrm>
            <a:off x="731520" y="3931920"/>
            <a:ext cx="5212080" cy="2103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300">
                <a:solidFill>
                  <a:srgbClr val="1E3A8A"/>
                </a:solidFill>
              </a:defRPr>
            </a:pPr>
            <a:r>
              <a:t>Gate 3: Softmax Margin Gate</a:t>
            </a:r>
          </a:p>
          <a:p>
            <a:pPr>
              <a:defRPr sz="1100">
                <a:solidFill>
                  <a:srgbClr val="475569"/>
                </a:solidFill>
              </a:defRPr>
            </a:pPr>
            <a:r>
              <a:t>Enforces max(P) &gt;= 0.45 and Top-1 vs Top-2 probability margin ΔP &gt;= 0.05 to reject ambiguous transitions.</a:t>
            </a:r>
          </a:p>
        </p:txBody>
      </p:sp>
      <p:sp>
        <p:nvSpPr>
          <p:cNvPr id="6" name="Rounded Rectangle 5"/>
          <p:cNvSpPr/>
          <p:nvPr/>
        </p:nvSpPr>
        <p:spPr>
          <a:xfrm>
            <a:off x="6217920" y="3931920"/>
            <a:ext cx="5212080" cy="2103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600"/>
              </a:spcAft>
              <a:defRPr b="1" sz="1300">
                <a:solidFill>
                  <a:srgbClr val="1E3A8A"/>
                </a:solidFill>
              </a:defRPr>
            </a:pPr>
            <a:r>
              <a:t>Gate 4: Prototype Cosine Distance</a:t>
            </a:r>
          </a:p>
          <a:p>
            <a:pPr>
              <a:defRPr sz="1100">
                <a:solidFill>
                  <a:srgbClr val="475569"/>
                </a:solidFill>
              </a:defRPr>
            </a:pPr>
            <a:r>
              <a:t>Computes cosine similarity between 128-D embedding and 40 learned prototypes; marks UNKNOWN if distant (&lt; 0.10).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CRITICAL REFLECTION</a:t>
            </a:r>
          </a:p>
          <a:p>
            <a:pPr>
              <a:spcBef>
                <a:spcPts val="400"/>
              </a:spcBef>
              <a:defRPr sz="2200" b="1">
                <a:solidFill>
                  <a:srgbClr val="0F172A"/>
                </a:solidFill>
                <a:latin typeface="Segoe UI"/>
              </a:defRPr>
            </a:pPr>
            <a:r>
              <a:t>Discussion, Limitations, &amp; Future Roadmap</a:t>
            </a:r>
          </a:p>
        </p:txBody>
      </p:sp>
      <p:sp>
        <p:nvSpPr>
          <p:cNvPr id="3" name="Rounded Rectangle 2"/>
          <p:cNvSpPr/>
          <p:nvPr/>
        </p:nvSpPr>
        <p:spPr>
          <a:xfrm>
            <a:off x="731520" y="1645920"/>
            <a:ext cx="33832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000"/>
              </a:spcAft>
              <a:defRPr b="1" sz="1400">
                <a:solidFill>
                  <a:srgbClr val="1E3A8A"/>
                </a:solidFill>
              </a:defRPr>
            </a:pPr>
            <a:r>
              <a:t>What Successfully Worked</a:t>
            </a:r>
          </a:p>
          <a:p>
            <a:pPr>
              <a:spcAft>
                <a:spcPts val="800"/>
              </a:spcAft>
              <a:defRPr sz="1050">
                <a:solidFill>
                  <a:srgbClr val="475569"/>
                </a:solidFill>
              </a:defRPr>
            </a:pPr>
            <a:r>
              <a:t>• +19.89% Test Accuracy Jump from 63.55% to 83.44% via dataset expansion &amp; class weighting.</a:t>
            </a:r>
          </a:p>
          <a:p>
            <a:pPr>
              <a:spcAft>
                <a:spcPts val="800"/>
              </a:spcAft>
              <a:defRPr sz="1050">
                <a:solidFill>
                  <a:srgbClr val="475569"/>
                </a:solidFill>
              </a:defRPr>
            </a:pPr>
            <a:r>
              <a:t>• Sub-Millisecond 0.82 ms GPU Latency enabling fluid 30 FPS processing.</a:t>
            </a:r>
          </a:p>
          <a:p>
            <a:pPr>
              <a:spcAft>
                <a:spcPts val="800"/>
              </a:spcAft>
              <a:defRPr sz="1050">
                <a:solidFill>
                  <a:srgbClr val="475569"/>
                </a:solidFill>
              </a:defRPr>
            </a:pPr>
            <a:r>
              <a:t>• Bit-Accurate ONNX Parity: 2.86 x 10^-6 max error ensures runtime fidelity.</a:t>
            </a:r>
          </a:p>
          <a:p>
            <a:pPr>
              <a:spcAft>
                <a:spcPts val="800"/>
              </a:spcAft>
              <a:defRPr sz="1050">
                <a:solidFill>
                  <a:srgbClr val="475569"/>
                </a:solidFill>
              </a:defRPr>
            </a:pPr>
            <a:r>
              <a:t>• Robust 100% Idle Rejection eliminating live webcam hallucinations.</a:t>
            </a:r>
          </a:p>
        </p:txBody>
      </p:sp>
      <p:sp>
        <p:nvSpPr>
          <p:cNvPr id="4" name="Rounded Rectangle 3"/>
          <p:cNvSpPr/>
          <p:nvPr/>
        </p:nvSpPr>
        <p:spPr>
          <a:xfrm>
            <a:off x="4389120" y="1645920"/>
            <a:ext cx="33832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000"/>
              </a:spcAft>
              <a:defRPr b="1" sz="1400">
                <a:solidFill>
                  <a:srgbClr val="DC2626"/>
                </a:solidFill>
              </a:defRPr>
            </a:pPr>
            <a:r>
              <a:t>Current Verified Limitations</a:t>
            </a:r>
          </a:p>
          <a:p>
            <a:pPr>
              <a:spcAft>
                <a:spcPts val="800"/>
              </a:spcAft>
              <a:defRPr sz="1050">
                <a:solidFill>
                  <a:srgbClr val="475569"/>
                </a:solidFill>
              </a:defRPr>
            </a:pPr>
            <a:r>
              <a:t>• Vocabulary Horizon: Currently limited to 40 canonical conversational words.</a:t>
            </a:r>
          </a:p>
          <a:p>
            <a:pPr>
              <a:spcAft>
                <a:spcPts val="800"/>
              </a:spcAft>
              <a:defRPr sz="1050">
                <a:solidFill>
                  <a:srgbClr val="475569"/>
                </a:solidFill>
              </a:defRPr>
            </a:pPr>
            <a:r>
              <a:t>• Lighting Sensitivity: MediaPipe landmarks degrade under harsh backlight or dim rooms.</a:t>
            </a:r>
          </a:p>
          <a:p>
            <a:pPr>
              <a:spcAft>
                <a:spcPts val="800"/>
              </a:spcAft>
              <a:defRPr sz="1050">
                <a:solidFill>
                  <a:srgbClr val="475569"/>
                </a:solidFill>
              </a:defRPr>
            </a:pPr>
            <a:r>
              <a:t>• Signer Distance: Distance calibration needed for very tall or seated signers.</a:t>
            </a:r>
          </a:p>
          <a:p>
            <a:pPr>
              <a:spcAft>
                <a:spcPts val="800"/>
              </a:spcAft>
              <a:defRPr sz="1050">
                <a:solidFill>
                  <a:srgbClr val="475569"/>
                </a:solidFill>
              </a:defRPr>
            </a:pPr>
            <a:r>
              <a:t>• Minority Class Imbalance: Rare classes (&lt;10 clips) show lower recall than majority signs.</a:t>
            </a:r>
          </a:p>
        </p:txBody>
      </p:sp>
      <p:sp>
        <p:nvSpPr>
          <p:cNvPr id="5" name="Rounded Rectangle 4"/>
          <p:cNvSpPr/>
          <p:nvPr/>
        </p:nvSpPr>
        <p:spPr>
          <a:xfrm>
            <a:off x="8046720" y="1645920"/>
            <a:ext cx="33832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000"/>
              </a:spcAft>
              <a:defRPr b="1" sz="1400">
                <a:solidFill>
                  <a:srgbClr val="0D9488"/>
                </a:solidFill>
              </a:defRPr>
            </a:pPr>
            <a:r>
              <a:t>Future Engineering Roadmap</a:t>
            </a:r>
          </a:p>
          <a:p>
            <a:pPr>
              <a:spcAft>
                <a:spcPts val="800"/>
              </a:spcAft>
              <a:defRPr sz="1050">
                <a:solidFill>
                  <a:srgbClr val="475569"/>
                </a:solidFill>
              </a:defRPr>
            </a:pPr>
            <a:r>
              <a:t>• Continuous Sentence ISL: Implement Connectionist Temporal Classification (CTC) loss.</a:t>
            </a:r>
          </a:p>
          <a:p>
            <a:pPr>
              <a:spcAft>
                <a:spcPts val="800"/>
              </a:spcAft>
              <a:defRPr sz="1050">
                <a:solidFill>
                  <a:srgbClr val="475569"/>
                </a:solidFill>
              </a:defRPr>
            </a:pPr>
            <a:r>
              <a:t>• Mobile Edge Optimization: Quantize AC-HWGATE to INT8 for mobile Android devices.</a:t>
            </a:r>
          </a:p>
          <a:p>
            <a:pPr>
              <a:spcAft>
                <a:spcPts val="800"/>
              </a:spcAft>
              <a:defRPr sz="1050">
                <a:solidFill>
                  <a:srgbClr val="475569"/>
                </a:solidFill>
              </a:defRPr>
            </a:pPr>
            <a:r>
              <a:t>• Self-Supervised Pre-Training: Pretrain graph encoder on unannotated ISL video collections.</a:t>
            </a:r>
          </a:p>
          <a:p>
            <a:pPr>
              <a:spcAft>
                <a:spcPts val="800"/>
              </a:spcAft>
              <a:defRPr sz="1050">
                <a:solidFill>
                  <a:srgbClr val="475569"/>
                </a:solidFill>
              </a:defRPr>
            </a:pPr>
            <a:r>
              <a:t>• Fingerspelling Sub-Network: Integrate static CNN fallback for spelling unfamiliar proper nouns.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000" b="1">
                <a:solidFill>
                  <a:srgbClr val="2563EB"/>
                </a:solidFill>
                <a:latin typeface="Segoe UI"/>
              </a:defRPr>
            </a:pPr>
            <a:r>
              <a:t>SUMMARY &amp; DEMONSTRATION</a:t>
            </a:r>
          </a:p>
          <a:p>
            <a:pPr>
              <a:spcBef>
                <a:spcPts val="400"/>
              </a:spcBef>
              <a:defRPr sz="2200" b="1">
                <a:solidFill>
                  <a:srgbClr val="0F172A"/>
                </a:solidFill>
                <a:latin typeface="Segoe UI"/>
              </a:defRPr>
            </a:pPr>
            <a:r>
              <a:t>Conclusion &amp; Live Demonstration Readiness</a:t>
            </a:r>
          </a:p>
        </p:txBody>
      </p:sp>
      <p:sp>
        <p:nvSpPr>
          <p:cNvPr id="3" name="Rounded Rectangle 2"/>
          <p:cNvSpPr/>
          <p:nvPr/>
        </p:nvSpPr>
        <p:spPr>
          <a:xfrm>
            <a:off x="731520" y="1645920"/>
            <a:ext cx="10728655"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spcAft>
                <a:spcPts val="1200"/>
              </a:spcAft>
              <a:defRPr b="1" sz="1600">
                <a:solidFill>
                  <a:srgbClr val="1E3A8A"/>
                </a:solidFill>
              </a:defRPr>
            </a:pPr>
            <a:r>
              <a:t>Project Acceptance &amp; Defense Summary</a:t>
            </a:r>
          </a:p>
          <a:p>
            <a:pPr>
              <a:spcAft>
                <a:spcPts val="1000"/>
              </a:spcAft>
            </a:pPr>
            <a:r>
              <a:rPr b="1" sz="1250">
                <a:solidFill>
                  <a:srgbClr val="0F172A"/>
                </a:solidFill>
              </a:rPr>
              <a:t>✔ Architectural Realization: </a:t>
            </a:r>
            <a:r>
              <a:rPr sz="1250">
                <a:solidFill>
                  <a:srgbClr val="475569"/>
                </a:solidFill>
              </a:rPr>
              <a:t>AC-HWGATE integrates adaptive graph attention, hierarchical body-part pooling, and windowed temporal transformers in a lightweight 972K-parameter model.</a:t>
            </a:r>
          </a:p>
          <a:p>
            <a:pPr>
              <a:spcAft>
                <a:spcPts val="1000"/>
              </a:spcAft>
            </a:pPr>
            <a:r>
              <a:rPr b="1" sz="1250">
                <a:solidFill>
                  <a:srgbClr val="0F172A"/>
                </a:solidFill>
              </a:rPr>
              <a:t>✔ Empirical Test Validation: </a:t>
            </a:r>
            <a:r>
              <a:rPr sz="1250">
                <a:solidFill>
                  <a:srgbClr val="475569"/>
                </a:solidFill>
              </a:rPr>
              <a:t>Achieved 83.44% Top-1 Accuracy and 93.17% Top-3 Accuracy on 483 untouched test sequences from unseen signers, outperforming classical CNN and RNN baselines by over +56%.</a:t>
            </a:r>
          </a:p>
          <a:p>
            <a:pPr>
              <a:spcAft>
                <a:spcPts val="1000"/>
              </a:spcAft>
            </a:pPr>
            <a:r>
              <a:rPr b="1" sz="1250">
                <a:solidFill>
                  <a:srgbClr val="0F172A"/>
                </a:solidFill>
              </a:rPr>
              <a:t>✔ Production Engineering: </a:t>
            </a:r>
            <a:r>
              <a:rPr sz="1250">
                <a:solidFill>
                  <a:srgbClr val="475569"/>
                </a:solidFill>
              </a:rPr>
              <a:t>Exported bit-level verified ONNX models (Δ &lt; 2.86 x 10^-6), eliminated false triggers via 4-stage unknown rejection, and passed 10/10 automated end-to-end tests.</a:t>
            </a:r>
          </a:p>
          <a:p>
            <a:pPr>
              <a:spcAft>
                <a:spcPts val="1000"/>
              </a:spcAft>
            </a:pPr>
            <a:r>
              <a:rPr b="1" sz="1250">
                <a:solidFill>
                  <a:srgbClr val="0F172A"/>
                </a:solidFill>
              </a:rPr>
              <a:t>✔ Live Demonstration Readiness: </a:t>
            </a:r>
            <a:r>
              <a:rPr sz="1250">
                <a:solidFill>
                  <a:srgbClr val="475569"/>
                </a:solidFill>
              </a:rPr>
              <a:t>Full-stack system is active and operational on localhost:8000 (FastAPI backend) and localhost:5173 (React Vite frontend), ready for interactive webcam evaluation.</a:t>
            </a:r>
          </a:p>
          <a:p>
            <a:pPr>
              <a:spcBef>
                <a:spcPts val="1400"/>
              </a:spcBef>
              <a:defRPr b="1" sz="1400">
                <a:solidFill>
                  <a:srgbClr val="0D9488"/>
                </a:solidFill>
              </a:defRPr>
            </a:pPr>
            <a:r>
              <a:t>Thank you! We welcome questions from the evaluation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